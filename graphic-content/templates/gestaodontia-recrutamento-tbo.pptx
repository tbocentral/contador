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18288000" cy="10287000"/>
  <p:notesSz cx="6858000" cy="9144000"/>
  <p:embeddedFontLst>
    <p:embeddedFont>
      <p:font typeface="Cooper Hewitt Bold Italics" charset="1" panose="00000000000000000000"/>
      <p:regular r:id="rId48"/>
    </p:embeddedFont>
    <p:embeddedFont>
      <p:font typeface="Montserrat Classic" charset="1" panose="00000500000000000000"/>
      <p:regular r:id="rId49"/>
    </p:embeddedFont>
    <p:embeddedFont>
      <p:font typeface="Open Sans" charset="1" panose="020B0606030504020204"/>
      <p:regular r:id="rId50"/>
    </p:embeddedFont>
    <p:embeddedFont>
      <p:font typeface="Open Sans Bold Italics" charset="1" panose="020B0806030504020204"/>
      <p:regular r:id="rId51"/>
    </p:embeddedFont>
    <p:embeddedFont>
      <p:font typeface="Open Sans Bold" charset="1" panose="020B0806030504020204"/>
      <p:regular r:id="rId52"/>
    </p:embeddedFont>
    <p:embeddedFont>
      <p:font typeface="Open Sans Italics" charset="1" panose="020B060603050402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font" Target="fonts/font48.fntdata"/><Relationship Id="rId49" Type="http://schemas.openxmlformats.org/officeDocument/2006/relationships/font" Target="fonts/font49.fntdata"/><Relationship Id="rId50" Type="http://schemas.openxmlformats.org/officeDocument/2006/relationships/font" Target="fonts/font50.fntdata"/><Relationship Id="rId51" Type="http://schemas.openxmlformats.org/officeDocument/2006/relationships/font" Target="fonts/font51.fntdata"/><Relationship Id="rId52" Type="http://schemas.openxmlformats.org/officeDocument/2006/relationships/font" Target="fonts/font52.fntdata"/><Relationship Id="rId53" Type="http://schemas.openxmlformats.org/officeDocument/2006/relationships/font" Target="fonts/font53.fntdata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Relationship Id="rId65" Type="http://schemas.openxmlformats.org/officeDocument/2006/relationships/slide" Target="slides/slide54.xml"/><Relationship Id="rId66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5.jpeg"/><Relationship Id="rId5" Type="http://schemas.openxmlformats.org/officeDocument/2006/relationships/video" Target="https://www.youtube.com/watch?v=inedbUw9hco" TargetMode="External"/><Relationship Id="rId6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7.jpe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eg"/><Relationship Id="rId4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svg"/><Relationship Id="rId14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22.jpeg"/><Relationship Id="rId5" Type="http://schemas.openxmlformats.org/officeDocument/2006/relationships/image" Target="../media/image23.jpeg"/><Relationship Id="rId6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3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3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28.jpeg"/><Relationship Id="rId5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29.jpeg"/><Relationship Id="rId5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0.jpeg"/><Relationship Id="rId5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1.jpeg"/><Relationship Id="rId5" Type="http://schemas.openxmlformats.org/officeDocument/2006/relationships/image" Target="../media/image3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2.jpeg"/><Relationship Id="rId5" Type="http://schemas.openxmlformats.org/officeDocument/2006/relationships/image" Target="../media/image33.jpeg"/><Relationship Id="rId6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larg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1435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68250" y="571500"/>
            <a:ext cx="5048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3600" b="1" i="0">
                <a:solidFill>
                  <a:srgbClr val="15265C"/>
                </a:solidFill>
                <a:latin typeface="Open Sans"/>
              </a:rPr>
              <a:t>TBO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68250" y="1123950"/>
            <a:ext cx="5048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75" b="0" i="0">
                <a:solidFill>
                  <a:srgbClr val="FF5E1A"/>
                </a:solidFill>
                <a:latin typeface="Open Sans"/>
              </a:rPr>
              <a:t>Gestão | Academy | Compras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0" y="3048000"/>
            <a:ext cx="1190625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850" b="1" i="0">
                <a:solidFill>
                  <a:srgbClr val="15265C"/>
                </a:solidFill>
                <a:latin typeface="Open Sans"/>
              </a:rPr>
              <a:t>RECRUTAMENTO, SELEÇÃO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5850" b="1" i="0">
                <a:solidFill>
                  <a:srgbClr val="15265C"/>
                </a:solidFill>
                <a:latin typeface="Open Sans"/>
              </a:rPr>
              <a:t>E ONBOARDING DA EQUIPA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0" y="5810250"/>
            <a:ext cx="123825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0" y="6191250"/>
            <a:ext cx="1171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2550" b="1" i="0" spc="300">
                <a:solidFill>
                  <a:srgbClr val="FF5E1A"/>
                </a:solidFill>
                <a:latin typeface="Open Sans"/>
              </a:rPr>
              <a:t>A CONSTRUÇÃO DA SUPER EQUIPA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8382000"/>
            <a:ext cx="11715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150">
                <a:solidFill>
                  <a:srgbClr val="56483E"/>
                </a:solidFill>
                <a:latin typeface="Open Sans"/>
              </a:rPr>
              <a:t>TBO Academy · ANJE Porto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 i="0" spc="150">
                <a:solidFill>
                  <a:srgbClr val="56483E"/>
                </a:solidFill>
                <a:latin typeface="Open Sans"/>
              </a:rPr>
              <a:t>Out a Dez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l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35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0" y="3810000"/>
            <a:ext cx="123825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0" y="4191000"/>
            <a:ext cx="1171575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100" b="1" i="0">
                <a:solidFill>
                  <a:srgbClr val="15265C"/>
                </a:solidFill>
                <a:latin typeface="Open Sans"/>
              </a:rPr>
              <a:t>IDENTIFICAR NECESSIDADES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100" b="1" i="0">
                <a:solidFill>
                  <a:srgbClr val="15265C"/>
                </a:solidFill>
                <a:latin typeface="Open Sans"/>
              </a:rPr>
              <a:t>E PERFIS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guarela-estre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5750" y="1333500"/>
            <a:ext cx="11525250" cy="7620000"/>
          </a:xfrm>
          <a:prstGeom prst="roundRect">
            <a:avLst>
              <a:gd name="adj" fmla="val 37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name="Picture 8" id="8"/>
          <p:cNvPicPr>
            <a:picLocks noChangeAspect="true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 rot="0">
            <a:off x="5006975" y="1504950"/>
            <a:ext cx="9702800" cy="7277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guarela-estre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9500" y="1524000"/>
            <a:ext cx="12477750" cy="7429500"/>
          </a:xfrm>
          <a:prstGeom prst="roundRect">
            <a:avLst>
              <a:gd name="adj" fmla="val 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810000" y="1859221"/>
            <a:ext cx="12096750" cy="6759059"/>
          </a:xfrm>
          <a:custGeom>
            <a:avLst/>
            <a:gdLst/>
            <a:ahLst/>
            <a:cxnLst/>
            <a:rect r="r" b="b" t="t" l="l"/>
            <a:pathLst>
              <a:path h="6314578" w="11301259">
                <a:moveTo>
                  <a:pt x="0" y="0"/>
                </a:moveTo>
                <a:lnTo>
                  <a:pt x="11301259" y="0"/>
                </a:lnTo>
                <a:lnTo>
                  <a:pt x="11301259" y="6314579"/>
                </a:lnTo>
                <a:lnTo>
                  <a:pt x="0" y="6314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guarela-estrei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3265170"/>
            <a:ext cx="4762500" cy="5831205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05432" y="3550920"/>
            <a:ext cx="2933136" cy="4402455"/>
          </a:xfrm>
          <a:custGeom>
            <a:avLst/>
            <a:gdLst/>
            <a:ahLst/>
            <a:cxnLst/>
            <a:rect r="r" b="b" t="t" l="l"/>
            <a:pathLst>
              <a:path h="2924891" w="1948709">
                <a:moveTo>
                  <a:pt x="0" y="0"/>
                </a:moveTo>
                <a:lnTo>
                  <a:pt x="1948708" y="0"/>
                </a:lnTo>
                <a:lnTo>
                  <a:pt x="1948708" y="2924891"/>
                </a:lnTo>
                <a:lnTo>
                  <a:pt x="0" y="2924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26" name="Rounded Rectangle 25"/>
          <p:cNvSpPr/>
          <p:nvPr/>
        </p:nvSpPr>
        <p:spPr>
          <a:xfrm>
            <a:off x="7477125" y="3265170"/>
            <a:ext cx="4762500" cy="5831205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762875" y="3824287"/>
            <a:ext cx="4191000" cy="3855721"/>
          </a:xfrm>
          <a:custGeom>
            <a:avLst/>
            <a:gdLst/>
            <a:ahLst/>
            <a:cxnLst/>
            <a:rect r="r" b="b" t="t" l="l"/>
            <a:pathLst>
              <a:path h="2688809" w="2922618">
                <a:moveTo>
                  <a:pt x="0" y="0"/>
                </a:moveTo>
                <a:lnTo>
                  <a:pt x="2922618" y="0"/>
                </a:lnTo>
                <a:lnTo>
                  <a:pt x="2922618" y="2688809"/>
                </a:lnTo>
                <a:lnTo>
                  <a:pt x="0" y="26888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28" name="Rounded Rectangle 27"/>
          <p:cNvSpPr/>
          <p:nvPr/>
        </p:nvSpPr>
        <p:spPr>
          <a:xfrm>
            <a:off x="12763500" y="3265170"/>
            <a:ext cx="4762500" cy="5831205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224179" y="3550920"/>
            <a:ext cx="3841141" cy="4402455"/>
          </a:xfrm>
          <a:custGeom>
            <a:avLst/>
            <a:gdLst/>
            <a:ahLst/>
            <a:cxnLst/>
            <a:rect r="r" b="b" t="t" l="l"/>
            <a:pathLst>
              <a:path h="3003314" w="2620391">
                <a:moveTo>
                  <a:pt x="0" y="0"/>
                </a:moveTo>
                <a:lnTo>
                  <a:pt x="2620391" y="0"/>
                </a:lnTo>
                <a:lnTo>
                  <a:pt x="2620391" y="3003313"/>
                </a:lnTo>
                <a:lnTo>
                  <a:pt x="0" y="3003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21" name="TextBox 20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IDENTIFICAR NECESSIDADES E PERFIS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0750" y="2217420"/>
            <a:ext cx="153352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2100" b="0" i="0">
                <a:solidFill>
                  <a:srgbClr val="56483E"/>
                </a:solidFill>
                <a:latin typeface="Open Sans"/>
              </a:rPr>
              <a:t>Saber exatamente que funções precisamos e que competências (técnicas e comportamentais) são prioritárias.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1250" y="8143875"/>
            <a:ext cx="4381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250" b="1" i="0">
                <a:solidFill>
                  <a:srgbClr val="15265C"/>
                </a:solidFill>
                <a:latin typeface="Open Sans"/>
              </a:rPr>
              <a:t>Rececionista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7625" y="8143875"/>
            <a:ext cx="4381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250" b="1" i="0">
                <a:solidFill>
                  <a:srgbClr val="15265C"/>
                </a:solidFill>
                <a:latin typeface="Open Sans"/>
              </a:rPr>
              <a:t>Assistente Dentária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54000" y="8143875"/>
            <a:ext cx="4381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250" b="1" i="0">
                <a:solidFill>
                  <a:srgbClr val="15265C"/>
                </a:solidFill>
                <a:latin typeface="Open Sans"/>
              </a:rPr>
              <a:t>Médico Dentista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2404110"/>
            <a:ext cx="3810000" cy="447675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705969" y="2556510"/>
            <a:ext cx="2779562" cy="4171950"/>
          </a:xfrm>
          <a:custGeom>
            <a:avLst/>
            <a:gdLst/>
            <a:ahLst/>
            <a:cxnLst/>
            <a:rect r="r" b="b" t="t" l="l"/>
            <a:pathLst>
              <a:path h="4504385" w="3001047">
                <a:moveTo>
                  <a:pt x="0" y="0"/>
                </a:moveTo>
                <a:lnTo>
                  <a:pt x="3001046" y="0"/>
                </a:lnTo>
                <a:lnTo>
                  <a:pt x="3001046" y="4504385"/>
                </a:lnTo>
                <a:lnTo>
                  <a:pt x="0" y="4504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TextBox 18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RECEPCIONISTA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0750" y="7071360"/>
            <a:ext cx="3810000" cy="2025015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0" y="7223760"/>
            <a:ext cx="85725" cy="17202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5550" y="7071360"/>
            <a:ext cx="3200400" cy="2025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75" b="1" i="0">
                <a:solidFill>
                  <a:srgbClr val="15265C"/>
                </a:solidFill>
                <a:latin typeface="Open Sans"/>
              </a:rPr>
              <a:t>Nota Importante: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75" b="0" i="0">
                <a:solidFill>
                  <a:srgbClr val="56483E"/>
                </a:solidFill>
                <a:latin typeface="Open Sans"/>
              </a:rPr>
              <a:t>Software especifico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75" b="0" i="0">
                <a:solidFill>
                  <a:srgbClr val="56483E"/>
                </a:solidFill>
                <a:latin typeface="Open Sans"/>
              </a:rPr>
              <a:t>Trabalho por turnos (sábados, horário até às 21h)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1750" y="2404110"/>
            <a:ext cx="11144250" cy="2597785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1750" y="2556510"/>
            <a:ext cx="85725" cy="229298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6550" y="2404110"/>
            <a:ext cx="10534650" cy="25977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725" b="1" i="0">
                <a:solidFill>
                  <a:srgbClr val="15265C"/>
                </a:solidFill>
                <a:latin typeface="Open Sans"/>
              </a:rPr>
              <a:t>Funções Comuns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Atendimento Presencial e Telefónico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Chamadas Carácter Comercial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Gestão de Agendas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Faturação e Pagamentos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Organização de Documentação e Correspondência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750" y="5135245"/>
            <a:ext cx="11144250" cy="191389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1750" y="5287645"/>
            <a:ext cx="85725" cy="160909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6550" y="5135245"/>
            <a:ext cx="10534650" cy="19138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725" b="1" i="0">
                <a:solidFill>
                  <a:srgbClr val="15265C"/>
                </a:solidFill>
                <a:latin typeface="Open Sans"/>
              </a:rPr>
              <a:t>Competências Técnicas Específicas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Informática na ótica do Utilizador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Conhecimentos Básicos de Faturação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Domínio de Ferramentas de Comunicação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750" y="7182485"/>
            <a:ext cx="11144250" cy="191389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1750" y="7334885"/>
            <a:ext cx="85725" cy="160909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6550" y="7182485"/>
            <a:ext cx="10534650" cy="19138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725" b="1" i="0">
                <a:solidFill>
                  <a:srgbClr val="15265C"/>
                </a:solidFill>
                <a:latin typeface="Open Sans"/>
              </a:rPr>
              <a:t>Competências Práticas/Comportamentais (Objetivas)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Facilidade em Contactar com o Público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Tolerância a Picos de Movimento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0" i="0">
                <a:solidFill>
                  <a:srgbClr val="56483E"/>
                </a:solidFill>
                <a:latin typeface="Open Sans"/>
              </a:rPr>
              <a:t>Disciplina e Organização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2404110"/>
            <a:ext cx="3810000" cy="447675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43150" y="3030093"/>
            <a:ext cx="3505200" cy="3224784"/>
          </a:xfrm>
          <a:custGeom>
            <a:avLst/>
            <a:gdLst/>
            <a:ahLst/>
            <a:cxnLst/>
            <a:rect r="r" b="b" t="t" l="l"/>
            <a:pathLst>
              <a:path h="4013737" w="4362757">
                <a:moveTo>
                  <a:pt x="0" y="0"/>
                </a:moveTo>
                <a:lnTo>
                  <a:pt x="4362757" y="0"/>
                </a:lnTo>
                <a:lnTo>
                  <a:pt x="4362757" y="4013737"/>
                </a:lnTo>
                <a:lnTo>
                  <a:pt x="0" y="4013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TextBox 18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ASSISTENTE DENTÁRIA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0750" y="7071360"/>
            <a:ext cx="3810000" cy="2025015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0" y="7223760"/>
            <a:ext cx="85725" cy="17202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5550" y="7071360"/>
            <a:ext cx="3200400" cy="2025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725" b="1" i="0">
                <a:solidFill>
                  <a:srgbClr val="15265C"/>
                </a:solidFill>
                <a:latin typeface="Open Sans"/>
              </a:rPr>
              <a:t>Nota Importante: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725" b="1" i="0">
                <a:solidFill>
                  <a:srgbClr val="15265C"/>
                </a:solidFill>
                <a:latin typeface="Open Sans"/>
              </a:rPr>
              <a:t>Aplicável (ou não) o que foi dito no perfil de Recepcionista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1750" y="2404110"/>
            <a:ext cx="11144250" cy="2059305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1750" y="2556510"/>
            <a:ext cx="85725" cy="175450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6550" y="2404110"/>
            <a:ext cx="10534650" cy="2059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Funções Comuns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Preparação de Materiais e Equipamentos e Apoio ao Médico Dentista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Receção e Acompanhamento do Paciente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Manutenção e Higienização do Gabinete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Gestão de Stock Clínico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750" y="4596765"/>
            <a:ext cx="11144250" cy="2306955"/>
          </a:xfrm>
          <a:prstGeom prst="roundRect">
            <a:avLst>
              <a:gd name="adj" fmla="val 19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1750" y="4749165"/>
            <a:ext cx="85725" cy="200215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6550" y="4596765"/>
            <a:ext cx="10534650" cy="2306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Competências Técnicas Específicas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Conhecimento de Procedimentos Dentários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Noções de Esterilização e Segurança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Conhecimentos de Higiene Oral Básica</a:t>
            </a:r>
          </a:p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Poder dar instruções simples ao paciente como interlocutora do médico (ex.: enxaguamento, cuidados pós-tratamento)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750" y="7037070"/>
            <a:ext cx="11144250" cy="2059305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1750" y="7189470"/>
            <a:ext cx="85725" cy="175450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6550" y="7037070"/>
            <a:ext cx="10534650" cy="2059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Competências Práticas/Comportamentais (Objetivas)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Antecipa necessidades do médico e do paciente.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Comunicação empática: tranquilizar o paciente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Disciplina e Organização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Gestão de pressão: dias de emergências ou agenda cheia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2404110"/>
            <a:ext cx="3810000" cy="4476750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43150" y="2633774"/>
            <a:ext cx="3505200" cy="4017421"/>
          </a:xfrm>
          <a:custGeom>
            <a:avLst/>
            <a:gdLst/>
            <a:ahLst/>
            <a:cxnLst/>
            <a:rect r="r" b="b" t="t" l="l"/>
            <a:pathLst>
              <a:path h="4169914" w="3638250">
                <a:moveTo>
                  <a:pt x="0" y="0"/>
                </a:moveTo>
                <a:lnTo>
                  <a:pt x="3638251" y="0"/>
                </a:lnTo>
                <a:lnTo>
                  <a:pt x="3638251" y="4169915"/>
                </a:lnTo>
                <a:lnTo>
                  <a:pt x="0" y="4169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9" name="TextBox 18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MÉDICO DENTISTA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0750" y="7071360"/>
            <a:ext cx="3810000" cy="2025015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0" y="7223760"/>
            <a:ext cx="85725" cy="17202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5550" y="7071360"/>
            <a:ext cx="3200400" cy="2025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350" b="1" i="0">
                <a:solidFill>
                  <a:srgbClr val="15265C"/>
                </a:solidFill>
                <a:latin typeface="Open Sans"/>
              </a:rPr>
              <a:t>Nota Importante: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350" b="0" i="0">
                <a:solidFill>
                  <a:srgbClr val="56483E"/>
                </a:solidFill>
                <a:latin typeface="Open Sans"/>
              </a:rPr>
              <a:t>Forma de Contratação/Modelo de remuneração: percentagem ou salário fixo.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350" b="0" i="0">
                <a:solidFill>
                  <a:srgbClr val="56483E"/>
                </a:solidFill>
                <a:latin typeface="Open Sans"/>
              </a:rPr>
              <a:t>Especialista ou Generalista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1750" y="2404110"/>
            <a:ext cx="11144250" cy="2243455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81750" y="2556510"/>
            <a:ext cx="85725" cy="193865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6550" y="2404110"/>
            <a:ext cx="10534650" cy="2243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Funções Comuns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Diagnóstico e Planeamento de Tratamentos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Execução de Procedimentos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Supervisão da Assistência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Comunicação Pós-Tratamento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81750" y="4780915"/>
            <a:ext cx="11144250" cy="1938655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81750" y="4933315"/>
            <a:ext cx="85725" cy="163385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86550" y="4780915"/>
            <a:ext cx="10534650" cy="19386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Competências Técnicas Específicas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Formação Superior e Cédula Profissional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Especializações (consoante a vaga)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Conhecimento de Equipamentos Tecnológicos (se a clínica dispuser desses equipamentos)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81750" y="6852920"/>
            <a:ext cx="11144250" cy="2243455"/>
          </a:xfrm>
          <a:prstGeom prst="roundRect">
            <a:avLst>
              <a:gd name="adj" fmla="val 20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81750" y="7005320"/>
            <a:ext cx="85725" cy="193865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6550" y="6852920"/>
            <a:ext cx="10534650" cy="22434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Competências Práticas/Comportamentais (Objetivas)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Trabalho Integrado com Assistentes e Receção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Empatia e capacidade pedagógica com o paciente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Ética clínica e transparência nas recomendações: Capacidade de Explicar Procedimentos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500" b="0" i="0">
                <a:solidFill>
                  <a:srgbClr val="56483E"/>
                </a:solidFill>
                <a:latin typeface="Open Sans"/>
              </a:rPr>
              <a:t>Disciplina e Organização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l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35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0" y="3810000"/>
            <a:ext cx="123825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0" y="4191000"/>
            <a:ext cx="1171575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1" i="0">
                <a:solidFill>
                  <a:srgbClr val="15265C"/>
                </a:solidFill>
                <a:latin typeface="Open Sans"/>
              </a:rPr>
              <a:t>Precisamos de reforçar a equipa ou substituir algum membro?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2. DIFERENTES ESTRATÉGIAS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0750" y="2404110"/>
            <a:ext cx="7429500" cy="666750"/>
          </a:xfrm>
          <a:prstGeom prst="roundRect">
            <a:avLst>
              <a:gd name="adj" fmla="val 3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</a:rPr>
              <a:t>Reforçar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0750" y="3261360"/>
            <a:ext cx="7429500" cy="101584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90750" y="3413760"/>
            <a:ext cx="85725" cy="711041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5550" y="3261360"/>
            <a:ext cx="6819900" cy="1015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350" b="1" i="0">
                <a:solidFill>
                  <a:srgbClr val="15265C"/>
                </a:solidFill>
                <a:latin typeface="Open Sans"/>
              </a:rPr>
              <a:t>Divulgar Abertamente:</a:t>
            </a:r>
            <a:r>
              <a:rPr sz="1350" b="0" i="0">
                <a:solidFill>
                  <a:srgbClr val="56483E"/>
                </a:solidFill>
                <a:latin typeface="Open Sans"/>
              </a:rPr>
              <a:t> Valorizar o nome e a reputação da clínica para atrair candidatos alinhados.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0750" y="4391501"/>
            <a:ext cx="7429500" cy="101584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0750" y="4543901"/>
            <a:ext cx="85725" cy="711041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95550" y="4391501"/>
            <a:ext cx="6819900" cy="1015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350" b="1" i="0">
                <a:solidFill>
                  <a:srgbClr val="15265C"/>
                </a:solidFill>
                <a:latin typeface="Open Sans"/>
              </a:rPr>
              <a:t>Mensagem de Expansão: </a:t>
            </a:r>
            <a:r>
              <a:rPr sz="1350" b="0" i="0">
                <a:solidFill>
                  <a:srgbClr val="56483E"/>
                </a:solidFill>
                <a:latin typeface="Open Sans"/>
              </a:rPr>
              <a:t>Posicionar a clínica como em crescimento e procura ativa de talento.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0750" y="5521642"/>
            <a:ext cx="7429500" cy="101584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90750" y="5674042"/>
            <a:ext cx="85725" cy="711041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95550" y="5521642"/>
            <a:ext cx="6819900" cy="1015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350" b="1" i="0">
                <a:solidFill>
                  <a:srgbClr val="15265C"/>
                </a:solidFill>
                <a:latin typeface="Open Sans"/>
              </a:rPr>
              <a:t>Boa Imagem Interna: </a:t>
            </a:r>
            <a:r>
              <a:rPr sz="1350" b="0" i="0">
                <a:solidFill>
                  <a:srgbClr val="56483E"/>
                </a:solidFill>
                <a:latin typeface="Open Sans"/>
              </a:rPr>
              <a:t>Envolver a equipa atual, motivando-a a partilhar a vaga nas suas redes e pedir referências.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0750" y="6651784"/>
            <a:ext cx="7429500" cy="1015841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90750" y="6804184"/>
            <a:ext cx="85725" cy="711041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95550" y="6651784"/>
            <a:ext cx="6819900" cy="10158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350" b="1" i="0">
                <a:solidFill>
                  <a:srgbClr val="15265C"/>
                </a:solidFill>
                <a:latin typeface="Open Sans"/>
              </a:rPr>
              <a:t>Transparência: </a:t>
            </a:r>
            <a:r>
              <a:rPr sz="1350" b="0" i="0">
                <a:solidFill>
                  <a:srgbClr val="56483E"/>
                </a:solidFill>
                <a:latin typeface="Open Sans"/>
              </a:rPr>
              <a:t>Anúncio claro sobre funções, requisitos e vantagens, sem inflacionar expectativas.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96500" y="2404110"/>
            <a:ext cx="7429500" cy="666750"/>
          </a:xfrm>
          <a:prstGeom prst="roundRect">
            <a:avLst>
              <a:gd name="adj" fmla="val 30000"/>
            </a:avLst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400" b="1">
                <a:solidFill>
                  <a:srgbClr val="FFFFFF"/>
                </a:solidFill>
                <a:latin typeface="Open Sans"/>
              </a:rPr>
              <a:t>Substituir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96500" y="3261360"/>
            <a:ext cx="7429500" cy="1077754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96500" y="3413760"/>
            <a:ext cx="85725" cy="772954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01300" y="3261360"/>
            <a:ext cx="6819900" cy="1077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Discrição: </a:t>
            </a:r>
            <a:r>
              <a:rPr sz="1500" b="0" i="0">
                <a:solidFill>
                  <a:srgbClr val="56483E"/>
                </a:solidFill>
                <a:latin typeface="Open Sans"/>
              </a:rPr>
              <a:t>Se o colaborador ainda se encontra em funções ou não se oficializou a saída, optar por anúncios anónimos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96500" y="4453414"/>
            <a:ext cx="7429500" cy="1077754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96500" y="4605814"/>
            <a:ext cx="85725" cy="772954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01300" y="4453414"/>
            <a:ext cx="6819900" cy="1077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Equilíbrio Interno: </a:t>
            </a:r>
            <a:r>
              <a:rPr sz="1500" b="0" i="0">
                <a:solidFill>
                  <a:srgbClr val="56483E"/>
                </a:solidFill>
                <a:latin typeface="Open Sans"/>
              </a:rPr>
              <a:t>Informar só quem precisa de saber (chefias) para evitar rumores e instabilidade.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96500" y="5645467"/>
            <a:ext cx="7429500" cy="830104"/>
          </a:xfrm>
          <a:prstGeom prst="roundRect">
            <a:avLst>
              <a:gd name="adj" fmla="val 55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96500" y="5797867"/>
            <a:ext cx="85725" cy="525304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01300" y="5645467"/>
            <a:ext cx="6819900" cy="830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Respeito pela Pessoa a Sair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096500" y="6589871"/>
            <a:ext cx="7429500" cy="1077754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96500" y="6742271"/>
            <a:ext cx="85725" cy="772954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01300" y="6589871"/>
            <a:ext cx="6819900" cy="10777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500" b="1" i="0">
                <a:solidFill>
                  <a:srgbClr val="15265C"/>
                </a:solidFill>
                <a:latin typeface="Open Sans"/>
              </a:rPr>
              <a:t>Transição Rápida e Eficaz: </a:t>
            </a:r>
            <a:r>
              <a:rPr sz="1500" b="0" i="0">
                <a:solidFill>
                  <a:srgbClr val="56483E"/>
                </a:solidFill>
                <a:latin typeface="Open Sans"/>
              </a:rPr>
              <a:t>Garantir que a substituição não afeta agendas, produção ou qualidade clínica.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0750" y="7953375"/>
            <a:ext cx="15335250" cy="1143000"/>
          </a:xfrm>
          <a:prstGeom prst="roundRect">
            <a:avLst>
              <a:gd name="adj" fmla="val 5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71750" y="7953375"/>
            <a:ext cx="145732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Open Sans"/>
              </a:rPr>
              <a:t>Cada situação de recrutamento tem a sua estratégia:</a:t>
            </a:r>
            <a:r>
              <a:rPr sz="1950" b="0" i="0">
                <a:solidFill>
                  <a:srgbClr val="FFFFFF"/>
                </a:solidFill>
                <a:latin typeface="Open Sans"/>
              </a:rPr>
              <a:t> ao gerir bem a comunicação, evitamos ruídos internos, preservamos a imagem da clínica e encontramos a pessoa certa com o mínimo de impacto negativo.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2190750" y="7018020"/>
            <a:ext cx="15335250" cy="2078355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190750" y="4711065"/>
            <a:ext cx="15335250" cy="2078355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90750" y="2404110"/>
            <a:ext cx="15335250" cy="2078355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guarela-estreita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057322" y="4949190"/>
            <a:ext cx="1602105" cy="1602105"/>
          </a:xfrm>
          <a:custGeom>
            <a:avLst/>
            <a:gdLst/>
            <a:ahLst/>
            <a:cxnLst/>
            <a:rect r="r" b="b" t="t" l="l"/>
            <a:pathLst>
              <a:path h="1793482" w="1793482">
                <a:moveTo>
                  <a:pt x="0" y="0"/>
                </a:moveTo>
                <a:lnTo>
                  <a:pt x="1793482" y="0"/>
                </a:lnTo>
                <a:lnTo>
                  <a:pt x="1793482" y="1793483"/>
                </a:lnTo>
                <a:lnTo>
                  <a:pt x="0" y="17934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0" id="20"/>
          <p:cNvSpPr/>
          <p:nvPr/>
        </p:nvSpPr>
        <p:spPr>
          <a:xfrm flipH="false" flipV="false" rot="0">
            <a:off x="2857500" y="7536351"/>
            <a:ext cx="1047750" cy="1041693"/>
          </a:xfrm>
          <a:custGeom>
            <a:avLst/>
            <a:gdLst/>
            <a:ahLst/>
            <a:cxnLst/>
            <a:rect r="r" b="b" t="t" l="l"/>
            <a:pathLst>
              <a:path h="1108413" w="1114858">
                <a:moveTo>
                  <a:pt x="0" y="0"/>
                </a:moveTo>
                <a:lnTo>
                  <a:pt x="1114858" y="0"/>
                </a:lnTo>
                <a:lnTo>
                  <a:pt x="1114858" y="1108413"/>
                </a:lnTo>
                <a:lnTo>
                  <a:pt x="0" y="11084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2" id="22"/>
          <p:cNvSpPr/>
          <p:nvPr/>
        </p:nvSpPr>
        <p:spPr>
          <a:xfrm flipH="false" flipV="false" rot="0">
            <a:off x="15811500" y="7536351"/>
            <a:ext cx="1047750" cy="1041693"/>
          </a:xfrm>
          <a:custGeom>
            <a:avLst/>
            <a:gdLst/>
            <a:ahLst/>
            <a:cxnLst/>
            <a:rect r="r" b="b" t="t" l="l"/>
            <a:pathLst>
              <a:path h="1108413" w="1114858">
                <a:moveTo>
                  <a:pt x="0" y="0"/>
                </a:moveTo>
                <a:lnTo>
                  <a:pt x="1114857" y="0"/>
                </a:lnTo>
                <a:lnTo>
                  <a:pt x="1114857" y="1108413"/>
                </a:lnTo>
                <a:lnTo>
                  <a:pt x="0" y="11084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2571750" y="3033713"/>
            <a:ext cx="3071812" cy="819150"/>
          </a:xfrm>
          <a:custGeom>
            <a:avLst/>
            <a:gdLst/>
            <a:ahLst/>
            <a:cxnLst/>
            <a:rect r="r" b="b" t="t" l="l"/>
            <a:pathLst>
              <a:path h="1034814" w="3880552">
                <a:moveTo>
                  <a:pt x="0" y="0"/>
                </a:moveTo>
                <a:lnTo>
                  <a:pt x="3880552" y="0"/>
                </a:lnTo>
                <a:lnTo>
                  <a:pt x="3880552" y="1034814"/>
                </a:lnTo>
                <a:lnTo>
                  <a:pt x="0" y="1034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6480743" y="2689860"/>
            <a:ext cx="2921451" cy="1506855"/>
          </a:xfrm>
          <a:custGeom>
            <a:avLst/>
            <a:gdLst/>
            <a:ahLst/>
            <a:cxnLst/>
            <a:rect r="r" b="b" t="t" l="l"/>
            <a:pathLst>
              <a:path h="1358269" w="2633378">
                <a:moveTo>
                  <a:pt x="0" y="0"/>
                </a:moveTo>
                <a:lnTo>
                  <a:pt x="2633378" y="0"/>
                </a:lnTo>
                <a:lnTo>
                  <a:pt x="2633378" y="1358268"/>
                </a:lnTo>
                <a:lnTo>
                  <a:pt x="0" y="1358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10239375" y="3025378"/>
            <a:ext cx="3071812" cy="835818"/>
          </a:xfrm>
          <a:custGeom>
            <a:avLst/>
            <a:gdLst/>
            <a:ahLst/>
            <a:cxnLst/>
            <a:rect r="r" b="b" t="t" l="l"/>
            <a:pathLst>
              <a:path h="1089946" w="4005785">
                <a:moveTo>
                  <a:pt x="0" y="0"/>
                </a:moveTo>
                <a:lnTo>
                  <a:pt x="4005785" y="0"/>
                </a:lnTo>
                <a:lnTo>
                  <a:pt x="4005785" y="1089946"/>
                </a:lnTo>
                <a:lnTo>
                  <a:pt x="0" y="1089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14855667" y="2689860"/>
            <a:ext cx="1506854" cy="1506855"/>
          </a:xfrm>
          <a:custGeom>
            <a:avLst/>
            <a:gdLst/>
            <a:ahLst/>
            <a:cxnLst/>
            <a:rect r="r" b="b" t="t" l="l"/>
            <a:pathLst>
              <a:path h="1803538" w="1803538">
                <a:moveTo>
                  <a:pt x="0" y="0"/>
                </a:moveTo>
                <a:lnTo>
                  <a:pt x="1803538" y="0"/>
                </a:lnTo>
                <a:lnTo>
                  <a:pt x="1803538" y="1803538"/>
                </a:lnTo>
                <a:lnTo>
                  <a:pt x="0" y="1803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3993197" y="7303770"/>
            <a:ext cx="1506855" cy="1506855"/>
          </a:xfrm>
          <a:custGeom>
            <a:avLst/>
            <a:gdLst/>
            <a:ahLst/>
            <a:cxnLst/>
            <a:rect r="r" b="b" t="t" l="l"/>
            <a:pathLst>
              <a:path h="1884618" w="1884618">
                <a:moveTo>
                  <a:pt x="0" y="0"/>
                </a:moveTo>
                <a:lnTo>
                  <a:pt x="1884618" y="0"/>
                </a:lnTo>
                <a:lnTo>
                  <a:pt x="1884618" y="1884618"/>
                </a:lnTo>
                <a:lnTo>
                  <a:pt x="0" y="18846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9104948" y="7303770"/>
            <a:ext cx="1506854" cy="1506855"/>
          </a:xfrm>
          <a:custGeom>
            <a:avLst/>
            <a:gdLst/>
            <a:ahLst/>
            <a:cxnLst/>
            <a:rect r="r" b="b" t="t" l="l"/>
            <a:pathLst>
              <a:path h="1753148" w="1753148">
                <a:moveTo>
                  <a:pt x="0" y="0"/>
                </a:moveTo>
                <a:lnTo>
                  <a:pt x="1753148" y="0"/>
                </a:lnTo>
                <a:lnTo>
                  <a:pt x="1753148" y="1753148"/>
                </a:lnTo>
                <a:lnTo>
                  <a:pt x="0" y="1753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false" flipV="false" rot="0">
            <a:off x="14216698" y="7303770"/>
            <a:ext cx="1506854" cy="1506855"/>
          </a:xfrm>
          <a:custGeom>
            <a:avLst/>
            <a:gdLst/>
            <a:ahLst/>
            <a:cxnLst/>
            <a:rect r="r" b="b" t="t" l="l"/>
            <a:pathLst>
              <a:path h="1899420" w="1899420">
                <a:moveTo>
                  <a:pt x="0" y="0"/>
                </a:moveTo>
                <a:lnTo>
                  <a:pt x="1899420" y="0"/>
                </a:lnTo>
                <a:lnTo>
                  <a:pt x="1899420" y="1899420"/>
                </a:lnTo>
                <a:lnTo>
                  <a:pt x="0" y="18994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3. VAMOS AO MERCADO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CUIDADO COM AS REDES SOCIAIS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0750" y="2404110"/>
            <a:ext cx="15335250" cy="1841659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0750" y="2556510"/>
            <a:ext cx="85725" cy="153685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5550" y="2404110"/>
            <a:ext cx="14725650" cy="18416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400" b="1" i="0">
                <a:solidFill>
                  <a:srgbClr val="15265C"/>
                </a:solidFill>
                <a:latin typeface="Open Sans"/>
              </a:rPr>
              <a:t>Exposição Demasiado Alargada: </a:t>
            </a:r>
            <a:r>
              <a:rPr sz="2400" b="0" i="0">
                <a:solidFill>
                  <a:srgbClr val="56483E"/>
                </a:solidFill>
                <a:latin typeface="Open Sans"/>
              </a:rPr>
              <a:t>Chega a muita gente, mas nem sempre qualificada. A vaga pode tornar-se viral por motivos errados ou gerar mensagens privadas irrelevantes</a:t>
            </a:r>
            <a:r>
              <a:rPr sz="2400" b="1" i="0">
                <a:solidFill>
                  <a:srgbClr val="15265C"/>
                </a:solidFill>
                <a:latin typeface="Open Sans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0750" y="4417219"/>
            <a:ext cx="15335250" cy="1445419"/>
          </a:xfrm>
          <a:prstGeom prst="roundRect">
            <a:avLst>
              <a:gd name="adj" fmla="val 31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0750" y="4569619"/>
            <a:ext cx="85725" cy="114061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5550" y="4417219"/>
            <a:ext cx="14725650" cy="1445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400" b="1" i="0">
                <a:solidFill>
                  <a:srgbClr val="15265C"/>
                </a:solidFill>
                <a:latin typeface="Open Sans"/>
              </a:rPr>
              <a:t>Desatualização Rápida: </a:t>
            </a:r>
            <a:r>
              <a:rPr sz="2400" b="0" i="0">
                <a:solidFill>
                  <a:srgbClr val="56483E"/>
                </a:solidFill>
                <a:latin typeface="Open Sans"/>
              </a:rPr>
              <a:t>A publicação desce no feed rapidamente; se não investires em promoção paga ou partilhas regulares, o anúncio perde visibilidade.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0750" y="6034088"/>
            <a:ext cx="15335250" cy="1841659"/>
          </a:xfrm>
          <a:prstGeom prst="roundRect">
            <a:avLst>
              <a:gd name="adj" fmla="val 24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0750" y="6186488"/>
            <a:ext cx="85725" cy="153685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95550" y="6034088"/>
            <a:ext cx="14725650" cy="18416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400" b="1" i="0">
                <a:solidFill>
                  <a:srgbClr val="15265C"/>
                </a:solidFill>
                <a:latin typeface="Open Sans"/>
              </a:rPr>
              <a:t>Substituição de Colaborador:</a:t>
            </a:r>
            <a:r>
              <a:rPr sz="2400" b="0" i="0">
                <a:solidFill>
                  <a:srgbClr val="56483E"/>
                </a:solidFill>
                <a:latin typeface="Open Sans"/>
              </a:rPr>
              <a:t> Se não quer que toda a equipa ou o próprio colaborador percebam, a rede social não é a melhor escolha, pois há maior probabilidade de chegarem a essa informação.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0750" y="8047196"/>
            <a:ext cx="15335250" cy="1049179"/>
          </a:xfrm>
          <a:prstGeom prst="roundRect">
            <a:avLst>
              <a:gd name="adj" fmla="val 4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90750" y="8199596"/>
            <a:ext cx="85725" cy="74437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95550" y="8047196"/>
            <a:ext cx="14725650" cy="10491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400" b="1" i="0">
                <a:solidFill>
                  <a:srgbClr val="15265C"/>
                </a:solidFill>
                <a:latin typeface="Open Sans"/>
              </a:rPr>
              <a:t>Utilizador que faz publicação está identificado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guarela-estre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ESTRUTURA DE UM ANÚNCIO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0750" y="2404110"/>
            <a:ext cx="4762500" cy="3155632"/>
          </a:xfrm>
          <a:prstGeom prst="roundRect">
            <a:avLst>
              <a:gd name="adj" fmla="val 1811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76500" y="2642235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5E1A"/>
                </a:solidFill>
                <a:latin typeface="Open Sans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76500" y="3451860"/>
            <a:ext cx="4191000" cy="1822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Open Sans"/>
              </a:rPr>
              <a:t>Título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77125" y="2404110"/>
            <a:ext cx="4762500" cy="3155632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28575">
            <a:solidFill>
              <a:srgbClr val="152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62875" y="2642235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5E1A"/>
                </a:solidFill>
                <a:latin typeface="Open San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2875" y="3451860"/>
            <a:ext cx="4191000" cy="1822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15265C"/>
                </a:solidFill>
                <a:latin typeface="Open Sans"/>
              </a:rPr>
              <a:t>Descrição da Clínica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763500" y="2404110"/>
            <a:ext cx="4762500" cy="3155632"/>
          </a:xfrm>
          <a:prstGeom prst="roundRect">
            <a:avLst>
              <a:gd name="adj" fmla="val 1811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049250" y="2642235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5E1A"/>
                </a:solidFill>
                <a:latin typeface="Open Sans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49250" y="3451860"/>
            <a:ext cx="4191000" cy="1822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Open Sans"/>
              </a:rPr>
              <a:t>Funções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90750" y="5940742"/>
            <a:ext cx="4762500" cy="3155632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28575">
            <a:solidFill>
              <a:srgbClr val="152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76500" y="6178868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5E1A"/>
                </a:solidFill>
                <a:latin typeface="Open Sans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76500" y="6988492"/>
            <a:ext cx="4191000" cy="1822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15265C"/>
                </a:solidFill>
                <a:latin typeface="Open Sans"/>
              </a:rPr>
              <a:t>Perfil Procurado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77125" y="5940742"/>
            <a:ext cx="4762500" cy="3155632"/>
          </a:xfrm>
          <a:prstGeom prst="roundRect">
            <a:avLst>
              <a:gd name="adj" fmla="val 1811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62875" y="6178868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5E1A"/>
                </a:solidFill>
                <a:latin typeface="Open Sans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62875" y="6988492"/>
            <a:ext cx="4191000" cy="1822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FFFFFF"/>
                </a:solidFill>
                <a:latin typeface="Open Sans"/>
              </a:rPr>
              <a:t>Oferta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763500" y="5940742"/>
            <a:ext cx="4762500" cy="3155632"/>
          </a:xfrm>
          <a:prstGeom prst="roundRect">
            <a:avLst>
              <a:gd name="adj" fmla="val 1811"/>
            </a:avLst>
          </a:prstGeom>
          <a:solidFill>
            <a:srgbClr val="FFFFFF"/>
          </a:solidFill>
          <a:ln w="28575">
            <a:solidFill>
              <a:srgbClr val="152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049250" y="6178868"/>
            <a:ext cx="419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5E1A"/>
                </a:solidFill>
                <a:latin typeface="Open San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49250" y="6988492"/>
            <a:ext cx="4191000" cy="1822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50" b="1" i="0">
                <a:solidFill>
                  <a:srgbClr val="15265C"/>
                </a:solidFill>
                <a:latin typeface="Open Sans"/>
              </a:rPr>
              <a:t>Contacto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guarela-estre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190750" y="2312670"/>
          <a:ext cx="15335250" cy="6783706"/>
        </p:xfrm>
        <a:graphic>
          <a:graphicData uri="http://schemas.openxmlformats.org/drawingml/2006/table">
            <a:tbl>
              <a:tblPr/>
              <a:tblGrid>
                <a:gridCol w="4746813"/>
                <a:gridCol w="4746813"/>
                <a:gridCol w="5841625"/>
              </a:tblGrid>
              <a:tr h="6243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Aspeto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O que Fazer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O que Evitar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</a:tr>
              <a:tr h="2338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Título e Descrição da Clínica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Especificar a função (ex.: “Rececionista para Clínica Dentária em Lisboa”)- Indicar se é full-time ou part-time, quando relevante</a:t>
                      </a:r>
                      <a:endParaRPr lang="en-US" sz="1100"/>
                    </a:p>
                    <a:p>
                      <a:pPr algn="l">
                        <a:lnSpc>
                          <a:spcPct val="115000"/>
                        </a:lnSpc>
                      </a:pP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Ex.2: Assistente Dentária - Integral/Full-time (Porto)</a:t>
                      </a:r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Títulos vagos (ex.: “Estamos a Contratar!”)- Usar apenas “Clínica de Saúde” sem dizer que é dentária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673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Descrição das Funções (Funções)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Enumerar tarefas diárias (ex.: “Falar com pacientes, confirmar agendas, emitir faturas”), Preparação e gestão de materiais e instrumentos clínicos.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Generalizações como “espírito de equipa” ou “proatividade” sem explicar o que isso significa no dia a dia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  <a:tr h="205311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Requisitos Técnicos (Funções)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Ser claro: “Experiência no mínimo de 1 ano em receção de clínica”, “Conhecimento de protocolos de esterilização e controlo de infeção), ”experiência em </a:t>
                      </a:r>
                      <a:r>
                        <a:rPr lang="en-US" sz="1800" i="true">
                          <a:solidFill>
                            <a:srgbClr val="56483E"/>
                          </a:solidFill>
                          <a:latin typeface="Open Sans"/>
                          <a:ea typeface="Open Sans Italics"/>
                          <a:cs typeface="Open Sans Italics"/>
                          <a:sym typeface="Open Sans Italics"/>
                        </a:rPr>
                        <a:t>“incluir possíveis softwares”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“Ser motivado” ou “ter boa atitude” sem exemplos concretos - Pedir qualificações irrelevantes para a função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TABELA DE BOAS PRÁTICAS NA ELABORAÇÃO DO ANÚNCIO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guarela-estre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190750" y="1238250"/>
          <a:ext cx="15335250" cy="7858126"/>
        </p:xfrm>
        <a:graphic>
          <a:graphicData uri="http://schemas.openxmlformats.org/drawingml/2006/table">
            <a:tbl>
              <a:tblPr/>
              <a:tblGrid>
                <a:gridCol w="4184245"/>
                <a:gridCol w="4184245"/>
                <a:gridCol w="6966760"/>
              </a:tblGrid>
              <a:tr h="58578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Aspeto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O que Fazer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O que Evitar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</a:tr>
              <a:tr h="1407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Características do Dia a Dia (Perfil)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Descrever cenários: “Confortável em atender chamadas e efetuar chamadas de caráter comercial”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Frases tipo “Facilidade em trabalhar sob pressão” sem detalhar o que significa - Omitir que se trabalha ao sábado (caso seja necessário)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7653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Condições e Benefícios (Oferta)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Indicar faixa salarial (ex.: “900-1200€ ” ou “a negociar conforme experiência”)</a:t>
                      </a:r>
                      <a:endParaRPr lang="en-US" sz="1100"/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Referir subsídio de alimentação, se pago ou cartão-refeição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Mencionar férias e subsídios (Natal, férias) com clareza</a:t>
                      </a:r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“Oferecemos remuneração competitiva” sem número ou faixa - Promessas vagas como “Excelentes perspetivas de carreira” sem detalhes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  <a:tr h="14073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Horário e Disponibilidade (Oferta)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Incluir se é necessário trabalhar aos sábados ou em horário rotativo (ex.: até às 21h nalguns dias)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Esconder condições pouco habituais (ex.: turnos rotativos, trabalho ao sábado) e só revelar na entrevista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811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Forma de Candidatura (Contacto)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Especificar como enviar CV (email, link) e prazo de candidatura- Se relevante, pedir carta de motivação ou portefólio (ex.: para dentistas)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725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- Falta de método de contacto claro - Prazo indefinido, resultando em candidaturas tardias ou fora de contexto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guarela-estre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732440" y="2404110"/>
            <a:ext cx="10251870" cy="4126378"/>
          </a:xfrm>
          <a:custGeom>
            <a:avLst/>
            <a:gdLst/>
            <a:ahLst/>
            <a:cxnLst/>
            <a:rect r="r" b="b" t="t" l="l"/>
            <a:pathLst>
              <a:path h="4548757" w="11301259">
                <a:moveTo>
                  <a:pt x="0" y="0"/>
                </a:moveTo>
                <a:lnTo>
                  <a:pt x="11301259" y="0"/>
                </a:lnTo>
                <a:lnTo>
                  <a:pt x="11301259" y="4548757"/>
                </a:lnTo>
                <a:lnTo>
                  <a:pt x="0" y="45487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4732440" y="6816238"/>
            <a:ext cx="10251870" cy="2306671"/>
          </a:xfrm>
          <a:custGeom>
            <a:avLst/>
            <a:gdLst/>
            <a:ahLst/>
            <a:cxnLst/>
            <a:rect r="r" b="b" t="t" l="l"/>
            <a:pathLst>
              <a:path h="2542783" w="11301259">
                <a:moveTo>
                  <a:pt x="0" y="0"/>
                </a:moveTo>
                <a:lnTo>
                  <a:pt x="11301259" y="0"/>
                </a:lnTo>
                <a:lnTo>
                  <a:pt x="11301259" y="2542783"/>
                </a:lnTo>
                <a:lnTo>
                  <a:pt x="0" y="25427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5" name="TextBox 14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EXEMPLOS 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guarela-estre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755521" y="2404110"/>
            <a:ext cx="6321792" cy="6236822"/>
          </a:xfrm>
          <a:custGeom>
            <a:avLst/>
            <a:gdLst/>
            <a:ahLst/>
            <a:cxnLst/>
            <a:rect r="r" b="b" t="t" l="l"/>
            <a:pathLst>
              <a:path h="6236822" w="6321792">
                <a:moveTo>
                  <a:pt x="0" y="0"/>
                </a:moveTo>
                <a:lnTo>
                  <a:pt x="6321793" y="0"/>
                </a:lnTo>
                <a:lnTo>
                  <a:pt x="6321793" y="6236822"/>
                </a:lnTo>
                <a:lnTo>
                  <a:pt x="0" y="623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2190750" y="2404110"/>
            <a:ext cx="7279021" cy="4174591"/>
          </a:xfrm>
          <a:custGeom>
            <a:avLst/>
            <a:gdLst/>
            <a:ahLst/>
            <a:cxnLst/>
            <a:rect r="r" b="b" t="t" l="l"/>
            <a:pathLst>
              <a:path h="4174591" w="7279021">
                <a:moveTo>
                  <a:pt x="0" y="0"/>
                </a:moveTo>
                <a:lnTo>
                  <a:pt x="7279021" y="0"/>
                </a:lnTo>
                <a:lnTo>
                  <a:pt x="7279021" y="4174591"/>
                </a:lnTo>
                <a:lnTo>
                  <a:pt x="0" y="41745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2194996" y="2613885"/>
            <a:ext cx="1730790" cy="464354"/>
            <a:chOff x="0" y="0"/>
            <a:chExt cx="455846" cy="1222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5846" cy="122299"/>
            </a:xfrm>
            <a:custGeom>
              <a:avLst/>
              <a:gdLst/>
              <a:ahLst/>
              <a:cxnLst/>
              <a:rect r="r" b="b" t="t" l="l"/>
              <a:pathLst>
                <a:path h="122299" w="455846">
                  <a:moveTo>
                    <a:pt x="61149" y="0"/>
                  </a:moveTo>
                  <a:lnTo>
                    <a:pt x="394697" y="0"/>
                  </a:lnTo>
                  <a:cubicBezTo>
                    <a:pt x="410914" y="0"/>
                    <a:pt x="426468" y="6443"/>
                    <a:pt x="437936" y="17910"/>
                  </a:cubicBezTo>
                  <a:cubicBezTo>
                    <a:pt x="449404" y="29378"/>
                    <a:pt x="455846" y="44932"/>
                    <a:pt x="455846" y="61149"/>
                  </a:cubicBezTo>
                  <a:lnTo>
                    <a:pt x="455846" y="61149"/>
                  </a:lnTo>
                  <a:cubicBezTo>
                    <a:pt x="455846" y="77367"/>
                    <a:pt x="449404" y="92921"/>
                    <a:pt x="437936" y="104389"/>
                  </a:cubicBezTo>
                  <a:cubicBezTo>
                    <a:pt x="426468" y="115856"/>
                    <a:pt x="410914" y="122299"/>
                    <a:pt x="394697" y="122299"/>
                  </a:cubicBezTo>
                  <a:lnTo>
                    <a:pt x="61149" y="122299"/>
                  </a:lnTo>
                  <a:cubicBezTo>
                    <a:pt x="44932" y="122299"/>
                    <a:pt x="29378" y="115856"/>
                    <a:pt x="17910" y="104389"/>
                  </a:cubicBezTo>
                  <a:cubicBezTo>
                    <a:pt x="6443" y="92921"/>
                    <a:pt x="0" y="77367"/>
                    <a:pt x="0" y="61149"/>
                  </a:cubicBezTo>
                  <a:lnTo>
                    <a:pt x="0" y="61149"/>
                  </a:lnTo>
                  <a:cubicBezTo>
                    <a:pt x="0" y="44932"/>
                    <a:pt x="6443" y="29378"/>
                    <a:pt x="17910" y="17910"/>
                  </a:cubicBezTo>
                  <a:cubicBezTo>
                    <a:pt x="29378" y="6443"/>
                    <a:pt x="44932" y="0"/>
                    <a:pt x="61149" y="0"/>
                  </a:cubicBezTo>
                  <a:close/>
                </a:path>
              </a:pathLst>
            </a:custGeom>
            <a:solidFill>
              <a:srgbClr val="323232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455846" cy="150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EXEMPLOS 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guarela-estre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name="Freeform 2" id="2"/>
          <p:cNvSpPr/>
          <p:nvPr/>
        </p:nvSpPr>
        <p:spPr>
          <a:xfrm flipH="false" flipV="false" rot="0">
            <a:off x="7042725" y="1190625"/>
            <a:ext cx="5631300" cy="858773"/>
          </a:xfrm>
          <a:custGeom>
            <a:avLst/>
            <a:gdLst/>
            <a:ahLst/>
            <a:cxnLst/>
            <a:rect r="r" b="b" t="t" l="l"/>
            <a:pathLst>
              <a:path h="1049505" w="6882002">
                <a:moveTo>
                  <a:pt x="0" y="0"/>
                </a:moveTo>
                <a:lnTo>
                  <a:pt x="6882001" y="0"/>
                </a:lnTo>
                <a:lnTo>
                  <a:pt x="6882001" y="1049505"/>
                </a:lnTo>
                <a:lnTo>
                  <a:pt x="0" y="1049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6290037" y="2215810"/>
            <a:ext cx="7136677" cy="1668198"/>
          </a:xfrm>
          <a:custGeom>
            <a:avLst/>
            <a:gdLst/>
            <a:ahLst/>
            <a:cxnLst/>
            <a:rect r="r" b="b" t="t" l="l"/>
            <a:pathLst>
              <a:path h="2038702" w="8721720">
                <a:moveTo>
                  <a:pt x="0" y="0"/>
                </a:moveTo>
                <a:lnTo>
                  <a:pt x="8721719" y="0"/>
                </a:lnTo>
                <a:lnTo>
                  <a:pt x="8721719" y="2038702"/>
                </a:lnTo>
                <a:lnTo>
                  <a:pt x="0" y="2038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6327144" y="2746320"/>
            <a:ext cx="2683260" cy="204794"/>
            <a:chOff x="0" y="0"/>
            <a:chExt cx="863659" cy="65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3659" cy="65917"/>
            </a:xfrm>
            <a:custGeom>
              <a:avLst/>
              <a:gdLst/>
              <a:ahLst/>
              <a:cxnLst/>
              <a:rect r="r" b="b" t="t" l="l"/>
              <a:pathLst>
                <a:path h="65917" w="863659">
                  <a:moveTo>
                    <a:pt x="32959" y="0"/>
                  </a:moveTo>
                  <a:lnTo>
                    <a:pt x="830701" y="0"/>
                  </a:lnTo>
                  <a:cubicBezTo>
                    <a:pt x="839442" y="0"/>
                    <a:pt x="847825" y="3472"/>
                    <a:pt x="854006" y="9653"/>
                  </a:cubicBezTo>
                  <a:cubicBezTo>
                    <a:pt x="860187" y="15834"/>
                    <a:pt x="863659" y="24217"/>
                    <a:pt x="863659" y="32959"/>
                  </a:cubicBezTo>
                  <a:lnTo>
                    <a:pt x="863659" y="32959"/>
                  </a:lnTo>
                  <a:cubicBezTo>
                    <a:pt x="863659" y="41700"/>
                    <a:pt x="860187" y="50083"/>
                    <a:pt x="854006" y="56264"/>
                  </a:cubicBezTo>
                  <a:cubicBezTo>
                    <a:pt x="847825" y="62445"/>
                    <a:pt x="839442" y="65917"/>
                    <a:pt x="830701" y="65917"/>
                  </a:cubicBezTo>
                  <a:lnTo>
                    <a:pt x="32959" y="65917"/>
                  </a:lnTo>
                  <a:cubicBezTo>
                    <a:pt x="24217" y="65917"/>
                    <a:pt x="15834" y="62445"/>
                    <a:pt x="9653" y="56264"/>
                  </a:cubicBezTo>
                  <a:cubicBezTo>
                    <a:pt x="3472" y="50083"/>
                    <a:pt x="0" y="41700"/>
                    <a:pt x="0" y="32959"/>
                  </a:cubicBezTo>
                  <a:lnTo>
                    <a:pt x="0" y="32959"/>
                  </a:lnTo>
                  <a:cubicBezTo>
                    <a:pt x="0" y="24217"/>
                    <a:pt x="3472" y="15834"/>
                    <a:pt x="9653" y="9653"/>
                  </a:cubicBezTo>
                  <a:cubicBezTo>
                    <a:pt x="15834" y="3472"/>
                    <a:pt x="24217" y="0"/>
                    <a:pt x="32959" y="0"/>
                  </a:cubicBezTo>
                  <a:close/>
                </a:path>
              </a:pathLst>
            </a:custGeom>
            <a:solidFill>
              <a:srgbClr val="FFD4BF"/>
            </a:solidFill>
          </p:spPr>
          <p:txBody>
            <a:bodyPr/>
            <a:p/>
          </p:txBody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63659" cy="94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849964" y="2541524"/>
            <a:ext cx="1303284" cy="204794"/>
            <a:chOff x="0" y="0"/>
            <a:chExt cx="419488" cy="659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9488" cy="65917"/>
            </a:xfrm>
            <a:custGeom>
              <a:avLst/>
              <a:gdLst/>
              <a:ahLst/>
              <a:cxnLst/>
              <a:rect r="r" b="b" t="t" l="l"/>
              <a:pathLst>
                <a:path h="65917" w="419488">
                  <a:moveTo>
                    <a:pt x="32959" y="0"/>
                  </a:moveTo>
                  <a:lnTo>
                    <a:pt x="386529" y="0"/>
                  </a:lnTo>
                  <a:cubicBezTo>
                    <a:pt x="395270" y="0"/>
                    <a:pt x="403653" y="3472"/>
                    <a:pt x="409834" y="9653"/>
                  </a:cubicBezTo>
                  <a:cubicBezTo>
                    <a:pt x="416015" y="15834"/>
                    <a:pt x="419488" y="24217"/>
                    <a:pt x="419488" y="32959"/>
                  </a:cubicBezTo>
                  <a:lnTo>
                    <a:pt x="419488" y="32959"/>
                  </a:lnTo>
                  <a:cubicBezTo>
                    <a:pt x="419488" y="41700"/>
                    <a:pt x="416015" y="50083"/>
                    <a:pt x="409834" y="56264"/>
                  </a:cubicBezTo>
                  <a:cubicBezTo>
                    <a:pt x="403653" y="62445"/>
                    <a:pt x="395270" y="65917"/>
                    <a:pt x="386529" y="65917"/>
                  </a:cubicBezTo>
                  <a:lnTo>
                    <a:pt x="32959" y="65917"/>
                  </a:lnTo>
                  <a:cubicBezTo>
                    <a:pt x="24217" y="65917"/>
                    <a:pt x="15834" y="62445"/>
                    <a:pt x="9653" y="56264"/>
                  </a:cubicBezTo>
                  <a:cubicBezTo>
                    <a:pt x="3472" y="50083"/>
                    <a:pt x="0" y="41700"/>
                    <a:pt x="0" y="32959"/>
                  </a:cubicBezTo>
                  <a:lnTo>
                    <a:pt x="0" y="32959"/>
                  </a:lnTo>
                  <a:cubicBezTo>
                    <a:pt x="0" y="24217"/>
                    <a:pt x="3472" y="15834"/>
                    <a:pt x="9653" y="9653"/>
                  </a:cubicBezTo>
                  <a:cubicBezTo>
                    <a:pt x="15834" y="3472"/>
                    <a:pt x="24217" y="0"/>
                    <a:pt x="32959" y="0"/>
                  </a:cubicBezTo>
                  <a:close/>
                </a:path>
              </a:pathLst>
            </a:custGeom>
            <a:solidFill>
              <a:srgbClr val="FFD4BF"/>
            </a:solidFill>
          </p:spPr>
          <p:txBody>
            <a:bodyPr/>
            <a:p/>
          </p:txBody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19488" cy="944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8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347537" y="4047682"/>
            <a:ext cx="7021676" cy="3849906"/>
          </a:xfrm>
          <a:custGeom>
            <a:avLst/>
            <a:gdLst/>
            <a:ahLst/>
            <a:cxnLst/>
            <a:rect r="r" b="b" t="t" l="l"/>
            <a:pathLst>
              <a:path h="4704964" w="8581177">
                <a:moveTo>
                  <a:pt x="0" y="0"/>
                </a:moveTo>
                <a:lnTo>
                  <a:pt x="8581177" y="0"/>
                </a:lnTo>
                <a:lnTo>
                  <a:pt x="8581177" y="4704964"/>
                </a:lnTo>
                <a:lnTo>
                  <a:pt x="0" y="47049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03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false" flipV="false" rot="0">
            <a:off x="6241214" y="8061262"/>
            <a:ext cx="7234322" cy="1130362"/>
          </a:xfrm>
          <a:custGeom>
            <a:avLst/>
            <a:gdLst/>
            <a:ahLst/>
            <a:cxnLst/>
            <a:rect r="r" b="b" t="t" l="l"/>
            <a:pathLst>
              <a:path h="1381414" w="8841052">
                <a:moveTo>
                  <a:pt x="0" y="0"/>
                </a:moveTo>
                <a:lnTo>
                  <a:pt x="8841053" y="0"/>
                </a:lnTo>
                <a:lnTo>
                  <a:pt x="8841053" y="1381414"/>
                </a:lnTo>
                <a:lnTo>
                  <a:pt x="0" y="138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0750" y="2381250"/>
            <a:ext cx="95250" cy="5334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0" y="2381250"/>
            <a:ext cx="13811250" cy="666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1" i="0">
                <a:solidFill>
                  <a:srgbClr val="15265C"/>
                </a:solidFill>
                <a:latin typeface="Open Sans"/>
              </a:rPr>
              <a:t>Se não explicar bem as funções e o perfil que procura, os candidatos também não saberão se são a pessoa certa… e vai perder tempo a filtrar.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l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35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0" y="3810000"/>
            <a:ext cx="123825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0" y="4191000"/>
            <a:ext cx="1171575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 i="0">
                <a:solidFill>
                  <a:srgbClr val="15265C"/>
                </a:solidFill>
                <a:latin typeface="Open Sans"/>
              </a:rPr>
              <a:t>SELEÇÃO E ENTREVISTA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PROCESSO DE SELEÇÃO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190750" y="2404110"/>
            <a:ext cx="4476750" cy="1216533"/>
          </a:xfrm>
          <a:prstGeom prst="roundRect">
            <a:avLst>
              <a:gd name="adj" fmla="val 2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l"/>
            <a:r>
              <a:rPr sz="1950" b="1">
                <a:solidFill>
                  <a:srgbClr val="FFFFFF"/>
                </a:solidFill>
                <a:latin typeface="Open Sans"/>
              </a:rPr>
              <a:t>1. Receção CVs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2404110"/>
            <a:ext cx="10668000" cy="1216533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43750" y="2404110"/>
            <a:ext cx="10096500" cy="1216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Organizar CVs por data e função (caso haja várias vagas). Aplicar critérios mínimos (ex.: formação, anos de experiência).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0750" y="3773043"/>
            <a:ext cx="4476750" cy="1216533"/>
          </a:xfrm>
          <a:prstGeom prst="roundRect">
            <a:avLst>
              <a:gd name="adj" fmla="val 2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l"/>
            <a:r>
              <a:rPr sz="1950" b="1">
                <a:solidFill>
                  <a:srgbClr val="FFFFFF"/>
                </a:solidFill>
                <a:latin typeface="Open Sans"/>
              </a:rPr>
              <a:t>2. Triagem Telefónica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0" y="3773043"/>
            <a:ext cx="10668000" cy="1216533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43750" y="3773043"/>
            <a:ext cx="10096500" cy="1216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Validar disponibilidade (horários, sábados, etc.). Confirmar localização (se a pessoa está disposta a deslocar-se facilmente). Perguntar experiência passada (caso seja essencial).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90750" y="5141976"/>
            <a:ext cx="4476750" cy="1216533"/>
          </a:xfrm>
          <a:prstGeom prst="roundRect">
            <a:avLst>
              <a:gd name="adj" fmla="val 2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l"/>
            <a:r>
              <a:rPr sz="1950" b="1">
                <a:solidFill>
                  <a:srgbClr val="FFFFFF"/>
                </a:solidFill>
                <a:latin typeface="Open Sans"/>
              </a:rPr>
              <a:t>3. Entrevista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0" y="5141976"/>
            <a:ext cx="10668000" cy="1216533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43750" y="5141976"/>
            <a:ext cx="10096500" cy="1216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Avaliar competências técnicas e comportamentais (sem cair em generalizações). Explorar “casos práticos” ou perguntas situacionais.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0750" y="6510909"/>
            <a:ext cx="4476750" cy="1216533"/>
          </a:xfrm>
          <a:prstGeom prst="roundRect">
            <a:avLst>
              <a:gd name="adj" fmla="val 2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l"/>
            <a:r>
              <a:rPr sz="1950" b="1">
                <a:solidFill>
                  <a:srgbClr val="FFFFFF"/>
                </a:solidFill>
                <a:latin typeface="Open Sans"/>
              </a:rPr>
              <a:t>4. Possível 2ª Entrevista ou Reunião Final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0" y="6510909"/>
            <a:ext cx="10668000" cy="1216533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43750" y="6510909"/>
            <a:ext cx="10096500" cy="1216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Se a primeira entrevista deixa dúvidas ou se há vários finalistas. Eventualmente incluir gestor direto ou colega que irá trabalhar com o futuro colaborador.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190750" y="7879842"/>
            <a:ext cx="4476750" cy="1216533"/>
          </a:xfrm>
          <a:prstGeom prst="roundRect">
            <a:avLst>
              <a:gd name="adj" fmla="val 2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l"/>
            <a:r>
              <a:rPr sz="1950" b="1">
                <a:solidFill>
                  <a:srgbClr val="FFFFFF"/>
                </a:solidFill>
                <a:latin typeface="Open Sans"/>
              </a:rPr>
              <a:t>5. Decisão e Oferta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0" y="7879842"/>
            <a:ext cx="10668000" cy="1216533"/>
          </a:xfrm>
          <a:prstGeom prst="roundRect">
            <a:avLst>
              <a:gd name="adj" fmla="val 46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43750" y="7879842"/>
            <a:ext cx="10096500" cy="12165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Reunir feedback, métricas (se houver) e escolher o candidato. Formalizar proposta de contrato ou condições de prestação de serviços.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TRIAGEM INICIAL: CHAMADA TELEFÓNICA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90750" y="2312670"/>
            <a:ext cx="15335250" cy="916305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2465070"/>
            <a:ext cx="85725" cy="61150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5550" y="2312670"/>
            <a:ext cx="14725650" cy="9163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Objetivo: </a:t>
            </a:r>
            <a:r>
              <a:rPr sz="1950" b="0" i="0">
                <a:solidFill>
                  <a:srgbClr val="15265C"/>
                </a:solidFill>
                <a:latin typeface="Open Sans"/>
              </a:rPr>
              <a:t>Confirmar requisitos básicos antes de investir tempo na entrevista presencial.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3400425"/>
            <a:ext cx="15335250" cy="1295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0750" y="3552825"/>
            <a:ext cx="85725" cy="9906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5550" y="3400425"/>
            <a:ext cx="1472565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Disponibilidade de Horário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“Trabalhamos X h semanais, incluindo um sábado por mês.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0750" y="4867275"/>
            <a:ext cx="15335250" cy="1295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750" y="5019675"/>
            <a:ext cx="85725" cy="9906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5550" y="4867275"/>
            <a:ext cx="1472565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Localização e Deslocação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“Estamos em [local]. Tem viatura própria ou facilidade de transporte?”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0750" y="6334125"/>
            <a:ext cx="15335250" cy="1295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90750" y="6486525"/>
            <a:ext cx="85725" cy="9906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95550" y="6334125"/>
            <a:ext cx="1472565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Experiência Relevante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“Tem experiência anterior em receção de clínica dentária?” (se for o caso)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90750" y="7800975"/>
            <a:ext cx="15335250" cy="129540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90750" y="7953375"/>
            <a:ext cx="85725" cy="9906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5550" y="7800975"/>
            <a:ext cx="1472565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Expectativas de Salário (Opcional, mas pode poupar tempo)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“A faixa salarial (ou o salário) para esta posição, está de acordo com as suas expectativas?”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PREPARAÇÃO PARA A ENTREVISTA PRESENCIAL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0750" y="2312670"/>
            <a:ext cx="15335250" cy="1567339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0" y="2465070"/>
            <a:ext cx="85725" cy="126253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5550" y="2312670"/>
            <a:ext cx="14725650" cy="15673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00" b="1" i="0">
                <a:solidFill>
                  <a:srgbClr val="15265C"/>
                </a:solidFill>
                <a:latin typeface="Open Sans"/>
              </a:rPr>
              <a:t>Definir Objetivos da Entrevista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Quais competências/traços precisas de confirmar (técnicas, comportamentais)?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Que tipo de perguntas farás (situacionais, passadas, teste de software, etc.)?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0750" y="4051459"/>
            <a:ext cx="15335250" cy="1567339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0" y="4203859"/>
            <a:ext cx="85725" cy="126253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5550" y="4051459"/>
            <a:ext cx="14725650" cy="15673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00" b="1" i="0">
                <a:solidFill>
                  <a:srgbClr val="15265C"/>
                </a:solidFill>
                <a:latin typeface="Open Sans"/>
              </a:rPr>
              <a:t>Preparar Espaço e Tempo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Evitar atrasos. Bloquear um horário em que possas estar focado na entrevista.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Ter um local sossegado, sem ruídos de procedimentos ou telemóveis a interromper.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0750" y="5790248"/>
            <a:ext cx="15335250" cy="1567339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0750" y="5942648"/>
            <a:ext cx="85725" cy="126253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5550" y="5790248"/>
            <a:ext cx="14725650" cy="15673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00" b="1" i="0">
                <a:solidFill>
                  <a:srgbClr val="15265C"/>
                </a:solidFill>
                <a:latin typeface="Open Sans"/>
              </a:rPr>
              <a:t>Guia ou Roteiro de Perguntas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Estruturar as perguntas-chave (vamos ver a seguir).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Planear pequenas dinâmicas (se for relevante).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0750" y="7529036"/>
            <a:ext cx="15335250" cy="1567339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0750" y="7681436"/>
            <a:ext cx="85725" cy="126253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5550" y="7529036"/>
            <a:ext cx="14725650" cy="15673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00" b="1" i="0">
                <a:solidFill>
                  <a:srgbClr val="15265C"/>
                </a:solidFill>
                <a:latin typeface="Open Sans"/>
              </a:rPr>
              <a:t>Materiais Necessários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CV impresso, se precisares de apontar algo.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800" b="0" i="0">
                <a:solidFill>
                  <a:srgbClr val="56483E"/>
                </a:solidFill>
                <a:latin typeface="Open Sans"/>
              </a:rPr>
              <a:t>Eventuais testes práticos (ex.: gestão de agenda simulada, questionário de personalidade).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PERGUNTAS ESSENCIAIS EM ENTREVISTA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90750" y="2312670"/>
            <a:ext cx="15335250" cy="2039620"/>
          </a:xfrm>
          <a:prstGeom prst="roundRect">
            <a:avLst>
              <a:gd name="adj" fmla="val 22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0750" y="2465070"/>
            <a:ext cx="85725" cy="173482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5550" y="2312670"/>
            <a:ext cx="14725650" cy="203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Experiência Passada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“Conte-me sobre as funções concretas que desempenhava na sua última clínica/empresa.”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“Como lidaria se estivesse ao telefone com um paciente, surgisse alguém a querer falar consigo ao balcão e fosse chamada pelo médico dentista para marcar uma consulta de um paciente?”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4523740"/>
            <a:ext cx="15335250" cy="2740660"/>
          </a:xfrm>
          <a:prstGeom prst="roundRect">
            <a:avLst>
              <a:gd name="adj" fmla="val 16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4676140"/>
            <a:ext cx="85725" cy="243586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5550" y="4523740"/>
            <a:ext cx="14725650" cy="27406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Cenários Práticos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Rececionista:</a:t>
            </a:r>
            <a:r>
              <a:rPr sz="1950" b="0" i="0">
                <a:solidFill>
                  <a:srgbClr val="56483E"/>
                </a:solidFill>
                <a:latin typeface="Open Sans"/>
              </a:rPr>
              <a:t> “Se um paciente chegar atrasado 20 minutos e outro está a aguardar, como reorganizaria a agenda?”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Assistente</a:t>
            </a:r>
            <a:r>
              <a:rPr sz="1950" b="0" i="0">
                <a:solidFill>
                  <a:srgbClr val="56483E"/>
                </a:solidFill>
                <a:latin typeface="Open Sans"/>
              </a:rPr>
              <a:t>: “Como prepararia o gabinete para uma cirurgia de implante?”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Médico Dentista: </a:t>
            </a:r>
            <a:r>
              <a:rPr sz="1950" b="0" i="0">
                <a:solidFill>
                  <a:srgbClr val="56483E"/>
                </a:solidFill>
                <a:latin typeface="Open Sans"/>
              </a:rPr>
              <a:t>“Se surgisse uma urgência no mesmo horário de uma consulta de rotina, como priorizaria?”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7435850"/>
            <a:ext cx="15335250" cy="1660525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0750" y="7588250"/>
            <a:ext cx="85725" cy="135572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5550" y="7435850"/>
            <a:ext cx="14725650" cy="166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Competências Técnicas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“Que software de faturação ou de gestão de clínica domina?”, “Tens experiência no processo de esterilização de materiais?”, “Já trabalhou com Raio-X digital ou scanners intraorais?”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PERGUNTAS ESSENCIAIS EM ENTREVISTA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0750" y="2312670"/>
            <a:ext cx="15335250" cy="4599146"/>
          </a:xfrm>
          <a:prstGeom prst="roundRect">
            <a:avLst>
              <a:gd name="adj" fmla="val 9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90750" y="2465070"/>
            <a:ext cx="85725" cy="4294346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5550" y="2312670"/>
            <a:ext cx="14725650" cy="45991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925" b="1" i="0">
                <a:solidFill>
                  <a:srgbClr val="15265C"/>
                </a:solidFill>
                <a:latin typeface="Open Sans"/>
              </a:rPr>
              <a:t>Motivação e Soft Skills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925" b="1" i="0">
                <a:solidFill>
                  <a:srgbClr val="15265C"/>
                </a:solidFill>
                <a:latin typeface="Open Sans"/>
              </a:rPr>
              <a:t>“Como se vê a evoluir num contexto de clínica dentária nos próximos 2 anos?”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925" b="1" i="0">
                <a:solidFill>
                  <a:srgbClr val="15265C"/>
                </a:solidFill>
                <a:latin typeface="Open Sans"/>
              </a:rPr>
              <a:t>“Qual foi a última vez que enfrentou algo novo no trabalho e teve de aprender depressa?”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925" b="1" i="0">
                <a:solidFill>
                  <a:srgbClr val="15265C"/>
                </a:solidFill>
                <a:latin typeface="Open Sans"/>
              </a:rPr>
              <a:t>Porquê a nossa clínica? </a:t>
            </a:r>
            <a:r>
              <a:rPr sz="2925" b="0" i="0">
                <a:solidFill>
                  <a:srgbClr val="56483E"/>
                </a:solidFill>
                <a:latin typeface="Open Sans"/>
              </a:rPr>
              <a:t>dá uma noção se a pessoa pesquisou sobre a clínica ou se está a candidatar a todas as ofertas “às cegas”.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0750" y="7083266"/>
            <a:ext cx="15335250" cy="2013109"/>
          </a:xfrm>
          <a:prstGeom prst="roundRect">
            <a:avLst>
              <a:gd name="adj" fmla="val 22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0750" y="7235666"/>
            <a:ext cx="85725" cy="1708309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5550" y="7083266"/>
            <a:ext cx="14725650" cy="201310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925" b="1" i="0">
                <a:solidFill>
                  <a:srgbClr val="15265C"/>
                </a:solidFill>
                <a:latin typeface="Open Sans"/>
              </a:rPr>
              <a:t>Nota: </a:t>
            </a:r>
            <a:r>
              <a:rPr sz="2925" b="0" i="0">
                <a:solidFill>
                  <a:srgbClr val="15265C"/>
                </a:solidFill>
                <a:latin typeface="Open Sans"/>
              </a:rPr>
              <a:t>Nada de perguntas vagas como “É empático?” mas sim “Fala-me de uma situação em que ajudaste um paciente nervoso.”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guarela-estre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308860"/>
            <a:ext cx="10572750" cy="6787515"/>
          </a:xfrm>
          <a:prstGeom prst="roundRect">
            <a:avLst>
              <a:gd name="adj" fmla="val 4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833769" y="2499360"/>
            <a:ext cx="8049211" cy="6406515"/>
          </a:xfrm>
          <a:custGeom>
            <a:avLst/>
            <a:gdLst/>
            <a:ahLst/>
            <a:cxnLst/>
            <a:rect r="r" b="b" t="t" l="l"/>
            <a:pathLst>
              <a:path h="6060997" w="7615099">
                <a:moveTo>
                  <a:pt x="0" y="0"/>
                </a:moveTo>
                <a:lnTo>
                  <a:pt x="7615099" y="0"/>
                </a:lnTo>
                <a:lnTo>
                  <a:pt x="7615099" y="6060997"/>
                </a:lnTo>
                <a:lnTo>
                  <a:pt x="0" y="6060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5" name="TextBox 14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DINÂMICA NA ENTREVISTA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DINÂMICA NA ENTREVISTA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0750" y="2404110"/>
            <a:ext cx="15335250" cy="269113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0" y="2556510"/>
            <a:ext cx="85725" cy="238633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5550" y="2404110"/>
            <a:ext cx="14725650" cy="2691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Pequeno Teste ou Cenário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Rececionista: </a:t>
            </a:r>
            <a:r>
              <a:rPr sz="1950" b="0" i="0">
                <a:solidFill>
                  <a:srgbClr val="56483E"/>
                </a:solidFill>
                <a:latin typeface="Open Sans"/>
              </a:rPr>
              <a:t>Pedir ao candidato para simular uma chamada de confirmação de consulta e reagir a um pedido de alteração de horário.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Assistente:</a:t>
            </a:r>
            <a:r>
              <a:rPr sz="1950" b="0" i="0">
                <a:solidFill>
                  <a:srgbClr val="56483E"/>
                </a:solidFill>
                <a:latin typeface="Open Sans"/>
              </a:rPr>
              <a:t> Mostrar um kit de instrumentos e perguntar como organizaria para uma restauração.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Médico Dentista:</a:t>
            </a:r>
            <a:r>
              <a:rPr sz="1950" b="0" i="0">
                <a:solidFill>
                  <a:srgbClr val="56483E"/>
                </a:solidFill>
                <a:latin typeface="Open Sans"/>
              </a:rPr>
              <a:t> Discutir um caso clínico simples (sem entrar em detalhes médicos complexos, mas ver o raciocínio).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0750" y="5266690"/>
            <a:ext cx="15335250" cy="1990090"/>
          </a:xfrm>
          <a:prstGeom prst="roundRect">
            <a:avLst>
              <a:gd name="adj" fmla="val 22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0" y="5419090"/>
            <a:ext cx="85725" cy="168529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5550" y="5266690"/>
            <a:ext cx="14725650" cy="19900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Pergunta que Não Pode Faltar (Exemplo do Exercício)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No final da entrevista, pergunte sempre: “Tem alguma dúvida sobre as tarefas concretas do dia a dia?”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Objetivo: Ver se o candidato demonstra interesse e consciência sobre a rotina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0750" y="7428230"/>
            <a:ext cx="15335250" cy="1668145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0750" y="7580630"/>
            <a:ext cx="85725" cy="136334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5550" y="7428230"/>
            <a:ext cx="14725650" cy="1668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950" b="1" i="0">
                <a:solidFill>
                  <a:srgbClr val="15265C"/>
                </a:solidFill>
                <a:latin typeface="Open Sans"/>
              </a:rPr>
              <a:t>Avalie as reações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Como se comporta sob pequena “pressão”?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1950" b="0" i="0">
                <a:solidFill>
                  <a:srgbClr val="56483E"/>
                </a:solidFill>
                <a:latin typeface="Open Sans"/>
              </a:rPr>
              <a:t>Se pede esclarecimentos, poder de argumentação ou fica calado?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guarela-estrei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190750" y="2312670"/>
          <a:ext cx="15335250" cy="6686550"/>
        </p:xfrm>
        <a:graphic>
          <a:graphicData uri="http://schemas.openxmlformats.org/drawingml/2006/table">
            <a:tbl>
              <a:tblPr/>
              <a:tblGrid>
                <a:gridCol w="6115391"/>
                <a:gridCol w="2205586"/>
                <a:gridCol w="7014273"/>
              </a:tblGrid>
              <a:tr h="1162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Critério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Pontuação (1-5)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Observações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</a:tr>
              <a:tr h="876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Cumprimento Requisitos Técnicos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Ex.: Experiência no software, formação adequada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Postura e Comunicação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Ex.: Capacidade de explicar cenários, segurança ao falar, relação com o entrevistador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Disponibilidade Horária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Ex.: Se está alinhada com a necessidade da clínica (sábados, horários alargados)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Ajuste às Tarefas e Rotina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Ex.: Se gosta de falar com pessoas, realizar chamadas, organizar materiais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  <a:tr h="11620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Probabilidade de Longo Prazo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Ex.: Perguntas sobre vontade de aprender, ambições (não resolverá tudo, mas é um indicador)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MÉTRICAS DE AVALIAÇÃO DO CANDIDATO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EXERCÍCIO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190750" y="2594610"/>
            <a:ext cx="15335250" cy="3619500"/>
          </a:xfrm>
          <a:prstGeom prst="roundRect">
            <a:avLst>
              <a:gd name="adj" fmla="val 947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2250" y="2594610"/>
            <a:ext cx="14192250" cy="361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3750" b="1" i="0">
                <a:solidFill>
                  <a:srgbClr val="FFFFFF"/>
                </a:solidFill>
                <a:latin typeface="Open Sans"/>
              </a:rPr>
              <a:t>Qual é A pergunta que não pode falhar para vocês?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86875" y="659511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2250" y="6976110"/>
            <a:ext cx="141922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700" b="0" i="1">
                <a:solidFill>
                  <a:srgbClr val="56483E"/>
                </a:solidFill>
                <a:latin typeface="Open Sans"/>
              </a:rPr>
              <a:t>Há alguma coisa que eu não perguntei ou que não falamos que gostava que eu soubesse?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CONCLUSÕES: SELEÇÃO E ENTREVISTA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0750" y="2404110"/>
            <a:ext cx="15335250" cy="869315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0" y="2556510"/>
            <a:ext cx="85725" cy="5645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5550" y="2404110"/>
            <a:ext cx="14725650" cy="8693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75" b="1" i="0">
                <a:solidFill>
                  <a:srgbClr val="15265C"/>
                </a:solidFill>
                <a:latin typeface="Open Sans"/>
              </a:rPr>
              <a:t>Triagem Telefónica:</a:t>
            </a:r>
            <a:r>
              <a:rPr sz="1875" b="0" i="0">
                <a:solidFill>
                  <a:srgbClr val="15265C"/>
                </a:solidFill>
                <a:latin typeface="Open Sans"/>
              </a:rPr>
              <a:t> Poupa tempo e filtra quem não encaixa (salário, localização, horário).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0750" y="3444875"/>
            <a:ext cx="15335250" cy="869315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0750" y="3597275"/>
            <a:ext cx="85725" cy="5645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5550" y="3444875"/>
            <a:ext cx="14725650" cy="8693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75" b="1" i="0">
                <a:solidFill>
                  <a:srgbClr val="15265C"/>
                </a:solidFill>
                <a:latin typeface="Open Sans"/>
              </a:rPr>
              <a:t>Entrevista Estruturada: </a:t>
            </a:r>
            <a:r>
              <a:rPr sz="1875" b="0" i="0">
                <a:solidFill>
                  <a:srgbClr val="15265C"/>
                </a:solidFill>
                <a:latin typeface="Open Sans"/>
              </a:rPr>
              <a:t>Perguntas concretas, cenários práticos, eventualmente teste rápido.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0750" y="4485640"/>
            <a:ext cx="15335250" cy="869315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0750" y="4638040"/>
            <a:ext cx="85725" cy="5645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5550" y="4485640"/>
            <a:ext cx="14725650" cy="8693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75" b="1" i="0">
                <a:solidFill>
                  <a:srgbClr val="15265C"/>
                </a:solidFill>
                <a:latin typeface="Open Sans"/>
              </a:rPr>
              <a:t>Métricas ou Scorecards:</a:t>
            </a:r>
            <a:r>
              <a:rPr sz="1875" b="0" i="0">
                <a:solidFill>
                  <a:srgbClr val="15265C"/>
                </a:solidFill>
                <a:latin typeface="Open Sans"/>
              </a:rPr>
              <a:t> Maior objetividade, evita “gosto/não gosto”.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0750" y="5526405"/>
            <a:ext cx="15335250" cy="869315"/>
          </a:xfrm>
          <a:prstGeom prst="roundRect">
            <a:avLst>
              <a:gd name="adj" fmla="val 52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90750" y="5678805"/>
            <a:ext cx="85725" cy="5645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95550" y="5526405"/>
            <a:ext cx="14725650" cy="8693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75" b="1" i="0">
                <a:solidFill>
                  <a:srgbClr val="15265C"/>
                </a:solidFill>
                <a:latin typeface="Open Sans"/>
              </a:rPr>
              <a:t>2ª Entrevista se Necessário:</a:t>
            </a:r>
            <a:r>
              <a:rPr sz="1875" b="0" i="0">
                <a:solidFill>
                  <a:srgbClr val="15265C"/>
                </a:solidFill>
                <a:latin typeface="Open Sans"/>
              </a:rPr>
              <a:t> Detalhes finais sobre condições, ajustando expectativas.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90750" y="6567170"/>
            <a:ext cx="15335250" cy="1178878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190750" y="6719570"/>
            <a:ext cx="85725" cy="874078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5550" y="6567170"/>
            <a:ext cx="14725650" cy="11788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75" b="1" i="0">
                <a:solidFill>
                  <a:srgbClr val="15265C"/>
                </a:solidFill>
                <a:latin typeface="Open Sans"/>
              </a:rPr>
              <a:t>Oficializar a Proposta:</a:t>
            </a:r>
            <a:r>
              <a:rPr sz="1875" b="0" i="0">
                <a:solidFill>
                  <a:srgbClr val="15265C"/>
                </a:solidFill>
                <a:latin typeface="Open Sans"/>
              </a:rPr>
              <a:t> Confirmar salário e data de início; não deixar o candidato à espera indefinidamente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0750" y="7917498"/>
            <a:ext cx="15335250" cy="1178878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90750" y="8069898"/>
            <a:ext cx="85725" cy="874078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95550" y="7917498"/>
            <a:ext cx="14725650" cy="11788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1875" b="1" i="0">
                <a:solidFill>
                  <a:srgbClr val="15265C"/>
                </a:solidFill>
                <a:latin typeface="Open Sans"/>
              </a:rPr>
              <a:t>Comunicar o Resultado: </a:t>
            </a:r>
            <a:r>
              <a:rPr sz="1875" b="0" i="0">
                <a:solidFill>
                  <a:srgbClr val="15265C"/>
                </a:solidFill>
                <a:latin typeface="Open Sans"/>
              </a:rPr>
              <a:t>Agradecer a todos os que foram entrevistados, mesmo os não selecionados (mantém reputação da clínica).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0750" y="2381250"/>
            <a:ext cx="95250" cy="5334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0" y="2381250"/>
            <a:ext cx="13811250" cy="666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1" i="0">
                <a:solidFill>
                  <a:srgbClr val="15265C"/>
                </a:solidFill>
                <a:latin typeface="Open Sans"/>
              </a:rPr>
              <a:t>Uma boa entrevista não é um interrogatório, mas uma troca clara de informações para garantir que ambas as partes estão alinhadas.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lar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35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191250" y="3810000"/>
            <a:ext cx="123825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91250" y="4191000"/>
            <a:ext cx="1171575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100" b="1" i="0">
                <a:solidFill>
                  <a:srgbClr val="15265C"/>
                </a:solidFill>
                <a:latin typeface="Open Sans"/>
              </a:rPr>
              <a:t>ONBOARDING: A CHAVE PARA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100" b="1" i="0">
                <a:solidFill>
                  <a:srgbClr val="15265C"/>
                </a:solidFill>
                <a:latin typeface="Open Sans"/>
              </a:rPr>
              <a:t>A INTEGRAÇÃO E RETENÇÃO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IMPORTÂNCIA DO ONBOARDING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190750" y="2404110"/>
            <a:ext cx="15335250" cy="1250871"/>
          </a:xfrm>
          <a:prstGeom prst="roundRect">
            <a:avLst>
              <a:gd name="adj" fmla="val 365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0750" y="2556510"/>
            <a:ext cx="85725" cy="946071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5550" y="2404110"/>
            <a:ext cx="14725650" cy="12508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025" b="1" i="0">
                <a:solidFill>
                  <a:srgbClr val="15265C"/>
                </a:solidFill>
                <a:latin typeface="Open Sans"/>
              </a:rPr>
              <a:t>Objetivo Geral:</a:t>
            </a:r>
            <a:r>
              <a:rPr sz="2025" b="0" i="0">
                <a:solidFill>
                  <a:srgbClr val="15265C"/>
                </a:solidFill>
                <a:latin typeface="Open Sans"/>
              </a:rPr>
              <a:t> Criar um processo de onboarding que acelere a integração do novo colaborador, aumente a satisfação e reduza a rotatividade.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0750" y="3826431"/>
            <a:ext cx="15335250" cy="1642348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0750" y="3978831"/>
            <a:ext cx="85725" cy="1337548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5550" y="3826431"/>
            <a:ext cx="14725650" cy="1642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025" b="1" i="0">
                <a:solidFill>
                  <a:srgbClr val="15265C"/>
                </a:solidFill>
                <a:latin typeface="Open Sans"/>
              </a:rPr>
              <a:t>Retenção e Satisfação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025" b="0" i="0">
                <a:solidFill>
                  <a:srgbClr val="56483E"/>
                </a:solidFill>
                <a:latin typeface="Open Sans"/>
              </a:rPr>
              <a:t>Dados de vários estudos apontam que colaboradores com onboarding bem estruturado tendem a ficar mais tempo e a ter maior engagement.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90750" y="5640229"/>
            <a:ext cx="15335250" cy="1642348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0750" y="5792629"/>
            <a:ext cx="85725" cy="1337548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5550" y="5640229"/>
            <a:ext cx="14725650" cy="1642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025" b="1" i="0">
                <a:solidFill>
                  <a:srgbClr val="15265C"/>
                </a:solidFill>
                <a:latin typeface="Open Sans"/>
              </a:rPr>
              <a:t>Impacto na Produtividade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025" b="0" i="0">
                <a:solidFill>
                  <a:srgbClr val="56483E"/>
                </a:solidFill>
                <a:latin typeface="Open Sans"/>
              </a:rPr>
              <a:t>Um colaborador que sabe o que fazer e conhece as rotinas e valores da clínica torna-se produtivo mais depressa.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0750" y="7454027"/>
            <a:ext cx="15335250" cy="1642348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0750" y="7606427"/>
            <a:ext cx="85725" cy="1337548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5550" y="7454027"/>
            <a:ext cx="14725650" cy="1642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025" b="1" i="0">
                <a:solidFill>
                  <a:srgbClr val="15265C"/>
                </a:solidFill>
                <a:latin typeface="Open Sans"/>
              </a:rPr>
              <a:t>Imagem da Clínica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025" b="0" i="0">
                <a:solidFill>
                  <a:srgbClr val="56483E"/>
                </a:solidFill>
                <a:latin typeface="Open Sans"/>
              </a:rPr>
              <a:t>Oferecer uma boa experiência inicial reforça a cultura interna e faz com que o novo elemento fale bem da clínica a amigos/familiares.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IMPORTÂNCIA DO ONBOARDING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0750" y="2308860"/>
            <a:ext cx="1533525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2550" b="1" i="0">
                <a:solidFill>
                  <a:srgbClr val="FF5E1A"/>
                </a:solidFill>
                <a:latin typeface="Open Sans"/>
              </a:rPr>
              <a:t>Porquê um Plano Estruturado?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2975610"/>
            <a:ext cx="15335250" cy="1495425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3128010"/>
            <a:ext cx="85725" cy="119062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5550" y="2975610"/>
            <a:ext cx="14725650" cy="1495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250" b="0" i="0">
                <a:solidFill>
                  <a:srgbClr val="56483E"/>
                </a:solidFill>
                <a:latin typeface="Open Sans"/>
              </a:rPr>
              <a:t>✅ </a:t>
            </a:r>
            <a:r>
              <a:rPr sz="2250" b="1" i="0">
                <a:solidFill>
                  <a:srgbClr val="15265C"/>
                </a:solidFill>
                <a:latin typeface="Open Sans"/>
              </a:rPr>
              <a:t>Evita improvisos:</a:t>
            </a:r>
            <a:r>
              <a:rPr sz="2250" b="0" i="0">
                <a:solidFill>
                  <a:srgbClr val="56483E"/>
                </a:solidFill>
                <a:latin typeface="Open Sans"/>
              </a:rPr>
              <a:t> O novo colaborador sente que existe orientação clara e não está “à deriva”.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4623435"/>
            <a:ext cx="15335250" cy="1495425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0750" y="4775835"/>
            <a:ext cx="85725" cy="119062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5550" y="4623435"/>
            <a:ext cx="14725650" cy="14954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250" b="0" i="0">
                <a:solidFill>
                  <a:srgbClr val="56483E"/>
                </a:solidFill>
                <a:latin typeface="Open Sans"/>
              </a:rPr>
              <a:t>✅ </a:t>
            </a:r>
            <a:r>
              <a:rPr sz="2250" b="1" i="0">
                <a:solidFill>
                  <a:srgbClr val="15265C"/>
                </a:solidFill>
                <a:latin typeface="Open Sans"/>
              </a:rPr>
              <a:t>Permite medir sucesso:</a:t>
            </a:r>
            <a:r>
              <a:rPr sz="2250" b="0" i="0">
                <a:solidFill>
                  <a:srgbClr val="56483E"/>
                </a:solidFill>
                <a:latin typeface="Open Sans"/>
              </a:rPr>
              <a:t> Conseguiu cumprir as etapas? O novo elemento aprendeu as SOPs no prazo estimado?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0750" y="6404610"/>
            <a:ext cx="15335250" cy="2691765"/>
          </a:xfrm>
          <a:prstGeom prst="roundRect">
            <a:avLst>
              <a:gd name="adj" fmla="val 1698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67000" y="6404610"/>
            <a:ext cx="14382750" cy="26917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Open Sans"/>
              </a:rPr>
              <a:t>Um onboarding cuidadoso é a forma de dizer: ‘Conta connosco e fazes parte desta equipa!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guarela-estre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44250" y="2308860"/>
            <a:ext cx="6381750" cy="6787515"/>
          </a:xfrm>
          <a:prstGeom prst="roundRect">
            <a:avLst>
              <a:gd name="adj" fmla="val 4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677674" y="2442210"/>
            <a:ext cx="5314903" cy="6520815"/>
          </a:xfrm>
          <a:custGeom>
            <a:avLst/>
            <a:gdLst/>
            <a:ahLst/>
            <a:cxnLst/>
            <a:rect r="r" b="b" t="t" l="l"/>
            <a:pathLst>
              <a:path h="6553431" w="5341487">
                <a:moveTo>
                  <a:pt x="0" y="0"/>
                </a:moveTo>
                <a:lnTo>
                  <a:pt x="5341487" y="0"/>
                </a:lnTo>
                <a:lnTo>
                  <a:pt x="5341487" y="6553432"/>
                </a:lnTo>
                <a:lnTo>
                  <a:pt x="0" y="6553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530" t="0" r="-44618" b="0"/>
            </a:stretch>
          </a:blipFill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ESTRUTURA DE ONBOARDING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0750" y="2308860"/>
            <a:ext cx="4381500" cy="609600"/>
          </a:xfrm>
          <a:prstGeom prst="roundRect">
            <a:avLst>
              <a:gd name="adj" fmla="val 30000"/>
            </a:avLst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>
                <a:solidFill>
                  <a:srgbClr val="FFFFFF"/>
                </a:solidFill>
                <a:latin typeface="Open Sans"/>
              </a:rPr>
              <a:t>1º Dia - Welcome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3070860"/>
            <a:ext cx="8572500" cy="1265555"/>
          </a:xfrm>
          <a:prstGeom prst="roundRect">
            <a:avLst>
              <a:gd name="adj" fmla="val 36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3223260"/>
            <a:ext cx="85725" cy="96075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5550" y="3070860"/>
            <a:ext cx="7962900" cy="12655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Apresentação da Equipa: 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Rececionista, assistentes, médicos dentistas, gestor de clínica.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4469765"/>
            <a:ext cx="8572500" cy="1612265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0750" y="4622165"/>
            <a:ext cx="85725" cy="130746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5550" y="4469765"/>
            <a:ext cx="7962900" cy="16122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Tour pela Clínica: 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Gabinetes, sala de esterilização, receção, áreas de staff (cacifos, copa).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0750" y="6215380"/>
            <a:ext cx="8572500" cy="2880995"/>
          </a:xfrm>
          <a:prstGeom prst="roundRect">
            <a:avLst>
              <a:gd name="adj" fmla="val 158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750" y="6367780"/>
            <a:ext cx="85725" cy="257619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5550" y="6215380"/>
            <a:ext cx="7962900" cy="28809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Entrega de Manual ou Briefing: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 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100" b="0" i="0">
                <a:solidFill>
                  <a:srgbClr val="56483E"/>
                </a:solidFill>
                <a:latin typeface="Open Sans"/>
              </a:rPr>
              <a:t>História da Empresa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100" b="0" i="0">
                <a:solidFill>
                  <a:srgbClr val="56483E"/>
                </a:solidFill>
                <a:latin typeface="Open Sans"/>
              </a:rPr>
              <a:t>Funções e responsabilidades;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100" b="0" i="0">
                <a:solidFill>
                  <a:srgbClr val="56483E"/>
                </a:solidFill>
                <a:latin typeface="Open Sans"/>
              </a:rPr>
              <a:t>Normas de higiene e protocolos básicos de segurança;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100" b="0" i="0">
                <a:solidFill>
                  <a:srgbClr val="56483E"/>
                </a:solidFill>
                <a:latin typeface="Open Sans"/>
              </a:rPr>
              <a:t>Incentivos e Prémios;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guarela-estre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44250" y="2308860"/>
            <a:ext cx="6381750" cy="6787515"/>
          </a:xfrm>
          <a:prstGeom prst="roundRect">
            <a:avLst>
              <a:gd name="adj" fmla="val 4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429265" y="2442210"/>
            <a:ext cx="5811721" cy="6520815"/>
          </a:xfrm>
          <a:custGeom>
            <a:avLst/>
            <a:gdLst/>
            <a:ahLst/>
            <a:cxnLst/>
            <a:rect r="r" b="b" t="t" l="l"/>
            <a:pathLst>
              <a:path h="6234641" w="5556666">
                <a:moveTo>
                  <a:pt x="0" y="0"/>
                </a:moveTo>
                <a:lnTo>
                  <a:pt x="5556666" y="0"/>
                </a:lnTo>
                <a:lnTo>
                  <a:pt x="5556666" y="6234641"/>
                </a:lnTo>
                <a:lnTo>
                  <a:pt x="0" y="6234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197" t="0" r="-23209" b="0"/>
            </a:stretch>
          </a:blipFill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ESTRUTURA DE ONBOARDING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0750" y="2308860"/>
            <a:ext cx="4381500" cy="609600"/>
          </a:xfrm>
          <a:prstGeom prst="roundRect">
            <a:avLst>
              <a:gd name="adj" fmla="val 30000"/>
            </a:avLst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>
                <a:solidFill>
                  <a:srgbClr val="FFFFFF"/>
                </a:solidFill>
                <a:latin typeface="Open Sans"/>
              </a:rPr>
              <a:t>1ª Semana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3070860"/>
            <a:ext cx="8572500" cy="2266315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3223260"/>
            <a:ext cx="85725" cy="196151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5550" y="3070860"/>
            <a:ext cx="7962900" cy="22663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Formação Inicial: 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Apresentar SOPs (Procedimentos Operacionais Padrão) para a função específica (ex.: assistente dentária → esterilização, organização de materiais).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5470525"/>
            <a:ext cx="8572500" cy="1919605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0750" y="5622925"/>
            <a:ext cx="85725" cy="161480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5550" y="5470525"/>
            <a:ext cx="7962900" cy="19196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Gestor no papel do Buddy: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 Alguém com experiência que acompanhe o novo colaborador nos primeiros dias, tirando dúvidas.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0750" y="7523480"/>
            <a:ext cx="8572500" cy="1572895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750" y="7675880"/>
            <a:ext cx="85725" cy="126809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5550" y="7523480"/>
            <a:ext cx="7962900" cy="1572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Reunião Curta e Diária: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 Verificar se há questões urgentes, feedback sobre tarefas.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guarela-estrei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44250" y="2308860"/>
            <a:ext cx="6381750" cy="6787515"/>
          </a:xfrm>
          <a:prstGeom prst="roundRect">
            <a:avLst>
              <a:gd name="adj" fmla="val 4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429265" y="2442210"/>
            <a:ext cx="5811721" cy="6520815"/>
          </a:xfrm>
          <a:custGeom>
            <a:avLst/>
            <a:gdLst/>
            <a:ahLst/>
            <a:cxnLst/>
            <a:rect r="r" b="b" t="t" l="l"/>
            <a:pathLst>
              <a:path h="6234641" w="5556666">
                <a:moveTo>
                  <a:pt x="0" y="0"/>
                </a:moveTo>
                <a:lnTo>
                  <a:pt x="5556666" y="0"/>
                </a:lnTo>
                <a:lnTo>
                  <a:pt x="5556666" y="6234641"/>
                </a:lnTo>
                <a:lnTo>
                  <a:pt x="0" y="62346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203" t="0" r="-34203" b="0"/>
            </a:stretch>
          </a:blipFill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ESTRUTURA DE ONBOARDING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190750" y="2308860"/>
            <a:ext cx="4381500" cy="609600"/>
          </a:xfrm>
          <a:prstGeom prst="roundRect">
            <a:avLst>
              <a:gd name="adj" fmla="val 30000"/>
            </a:avLst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>
                <a:solidFill>
                  <a:srgbClr val="FFFFFF"/>
                </a:solidFill>
                <a:latin typeface="Open Sans"/>
              </a:rPr>
              <a:t>1ª Mês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3070860"/>
            <a:ext cx="8572500" cy="2035175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3223260"/>
            <a:ext cx="85725" cy="173037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5550" y="3070860"/>
            <a:ext cx="7962900" cy="2035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Acompanhamento Sistemático: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 Reuniões semanais de 10-15 min para avaliar evolução, dificuldades.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5239385"/>
            <a:ext cx="8572500" cy="1688465"/>
          </a:xfrm>
          <a:prstGeom prst="roundRect">
            <a:avLst>
              <a:gd name="adj" fmla="val 27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0750" y="5391785"/>
            <a:ext cx="85725" cy="138366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5550" y="5239385"/>
            <a:ext cx="7962900" cy="16884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Feedback Frequente: 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Reforçar o que está a correr bem e corrigir desvios de procedimento.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0750" y="7061200"/>
            <a:ext cx="8572500" cy="2035175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750" y="7213600"/>
            <a:ext cx="85725" cy="1730375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5550" y="7061200"/>
            <a:ext cx="7962900" cy="2035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100" b="1" i="0">
                <a:solidFill>
                  <a:srgbClr val="15265C"/>
                </a:solidFill>
                <a:latin typeface="Open Sans"/>
              </a:rPr>
              <a:t>Formação Contínua </a:t>
            </a:r>
            <a:r>
              <a:rPr sz="2100" b="0" i="0">
                <a:solidFill>
                  <a:srgbClr val="15265C"/>
                </a:solidFill>
                <a:latin typeface="Open Sans"/>
              </a:rPr>
              <a:t>(se for caso disso): Se a clínica investe em cursos ou “mini-treinos” semanais, envolver desde cedo.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190750" y="2404110"/>
          <a:ext cx="15335250" cy="6692268"/>
        </p:xfrm>
        <a:graphic>
          <a:graphicData uri="http://schemas.openxmlformats.org/drawingml/2006/table">
            <a:tbl>
              <a:tblPr/>
              <a:tblGrid>
                <a:gridCol w="3833812"/>
                <a:gridCol w="3833812"/>
                <a:gridCol w="3833812"/>
                <a:gridCol w="3833812"/>
              </a:tblGrid>
              <a:tr h="54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Cargo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KPI (Indicador)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Objetivo a Cumprir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Período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15265C"/>
                    </a:solidFill>
                  </a:tcPr>
                </a:tc>
              </a:tr>
              <a:tr h="14050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Rececionista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Erros de Agendamento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Ter menos de 2% de marcações falhadas ou trocadas na 2ª semana de trabalho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2ª semana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35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Tempo de Resposta a Chamadas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Atender ≥90% das chamadas.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1º mês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  <a:tr h="11193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Assistente Dentária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Tempo de Preparação do Gabinete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Conseguir montar o kit e higienizar a área em ≤10 minutos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3ª semana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35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Conformidade de Esterilização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incidentes/falhas de protocolo (registadas)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1º mês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  <a:tr h="11193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15265C"/>
                          </a:solidFill>
                          <a:latin typeface="Open Sans"/>
                          <a:ea typeface="Open Sans Bold"/>
                          <a:cs typeface="Open Sans Bold"/>
                          <a:sym typeface="Open Sans Bold"/>
                        </a:rPr>
                        <a:t>Médico Dentista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Pontualidade nos Atendimentos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≥90% das consultas começam até 10 min após o horário agendado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1º mês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35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Registo Clínico Completo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 dos atos registados no software sem omissões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ct val="115000"/>
                        </a:lnSpc>
                        <a:defRPr/>
                      </a:pPr>
                      <a:r>
                        <a:rPr lang="en-US" sz="1800">
                          <a:solidFill>
                            <a:srgbClr val="56483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1º mês</a:t>
                      </a:r>
                      <a:endParaRPr lang="en-US" sz="1100"/>
                    </a:p>
                  </a:txBody>
                  <a:tcPr marL="133350" marR="133350" marT="95250" marB="95250" anchor="ctr">
                    <a:lnL w="12700">
                      <a:solidFill>
                        <a:srgbClr val="E3CDBD"/>
                      </a:solidFill>
                    </a:lnL>
                    <a:lnR w="12700">
                      <a:solidFill>
                        <a:srgbClr val="E3CDBD"/>
                      </a:solidFill>
                    </a:lnR>
                    <a:lnT w="12700">
                      <a:solidFill>
                        <a:srgbClr val="E3CDBD"/>
                      </a:solidFill>
                    </a:lnT>
                    <a:lnB w="12700">
                      <a:solidFill>
                        <a:srgbClr val="E3CDBD"/>
                      </a:solidFill>
                    </a:lnB>
                    <a:solidFill>
                      <a:srgbClr val="FFF6EE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ANÁLISE DE PERFORMANCE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guarela-estrei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0750" y="2404110"/>
            <a:ext cx="7429500" cy="6692265"/>
          </a:xfrm>
          <a:prstGeom prst="roundRect">
            <a:avLst>
              <a:gd name="adj" fmla="val 4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419350" y="3037070"/>
            <a:ext cx="6972300" cy="4645296"/>
          </a:xfrm>
          <a:custGeom>
            <a:avLst/>
            <a:gdLst/>
            <a:ahLst/>
            <a:cxnLst/>
            <a:rect r="r" b="b" t="t" l="l"/>
            <a:pathLst>
              <a:path h="3095179" w="4645671">
                <a:moveTo>
                  <a:pt x="0" y="0"/>
                </a:moveTo>
                <a:lnTo>
                  <a:pt x="4645671" y="0"/>
                </a:lnTo>
                <a:lnTo>
                  <a:pt x="4645671" y="3095178"/>
                </a:lnTo>
                <a:lnTo>
                  <a:pt x="0" y="30951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20" name="Rounded Rectangle 19"/>
          <p:cNvSpPr/>
          <p:nvPr/>
        </p:nvSpPr>
        <p:spPr>
          <a:xfrm>
            <a:off x="10096500" y="2404110"/>
            <a:ext cx="7429500" cy="6692265"/>
          </a:xfrm>
          <a:prstGeom prst="roundRect">
            <a:avLst>
              <a:gd name="adj" fmla="val 4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25100" y="3555635"/>
            <a:ext cx="6972300" cy="3608165"/>
          </a:xfrm>
          <a:custGeom>
            <a:avLst/>
            <a:gdLst/>
            <a:ahLst/>
            <a:cxnLst/>
            <a:rect r="r" b="b" t="t" l="l"/>
            <a:pathLst>
              <a:path h="2832754" w="5473921">
                <a:moveTo>
                  <a:pt x="0" y="0"/>
                </a:moveTo>
                <a:lnTo>
                  <a:pt x="5473921" y="0"/>
                </a:lnTo>
                <a:lnTo>
                  <a:pt x="5473921" y="2832754"/>
                </a:lnTo>
                <a:lnTo>
                  <a:pt x="0" y="28327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7" name="TextBox 16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FERRAMENTAS A PARTILHAR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8239125"/>
            <a:ext cx="7048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1650" b="1" i="0" spc="100">
                <a:solidFill>
                  <a:srgbClr val="15265C"/>
                </a:solidFill>
                <a:latin typeface="Open Sans"/>
              </a:rPr>
              <a:t>MINI CALENDÁRIO (EXEMPLO DE 8 SEMANAS)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8239125"/>
            <a:ext cx="70485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1650" b="1" i="0" spc="100">
                <a:solidFill>
                  <a:srgbClr val="15265C"/>
                </a:solidFill>
                <a:latin typeface="Open Sans"/>
              </a:rPr>
              <a:t>CHECKLIST DE PROCEDIMENTOS PARA O ONBOARDING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0750" y="1219200"/>
            <a:ext cx="150495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300" b="1" i="0">
                <a:solidFill>
                  <a:srgbClr val="15265C"/>
                </a:solidFill>
                <a:latin typeface="Open Sans"/>
              </a:rPr>
              <a:t>O QUE ACONTECE APÓS O PERÍODO EXPERIMENTAL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0750" y="187452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90750" y="2312670"/>
            <a:ext cx="15335250" cy="230219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0750" y="2465070"/>
            <a:ext cx="85725" cy="1997393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5550" y="2312670"/>
            <a:ext cx="14725650" cy="2302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475" b="1" i="0">
                <a:solidFill>
                  <a:srgbClr val="15265C"/>
                </a:solidFill>
                <a:latin typeface="Open Sans"/>
              </a:rPr>
              <a:t>Avaliação Oficial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475" b="0" i="0">
                <a:solidFill>
                  <a:srgbClr val="56483E"/>
                </a:solidFill>
                <a:latin typeface="Open Sans"/>
              </a:rPr>
              <a:t>Passado 1 a 3 meses, sentar com o novo colaborador, ver se cumpre a função adequadamente.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475" b="0" i="0">
                <a:solidFill>
                  <a:srgbClr val="56483E"/>
                </a:solidFill>
                <a:latin typeface="Open Sans"/>
              </a:rPr>
              <a:t>Se no contrato constar período experimental, decidir se continua ou não</a:t>
            </a:r>
            <a:r>
              <a:rPr sz="2475" b="1" i="0">
                <a:solidFill>
                  <a:srgbClr val="15265C"/>
                </a:solidFill>
                <a:latin typeface="Open Sans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0750" y="4786313"/>
            <a:ext cx="15335250" cy="2302192"/>
          </a:xfrm>
          <a:prstGeom prst="roundRect">
            <a:avLst>
              <a:gd name="adj" fmla="val 19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90750" y="4938712"/>
            <a:ext cx="85725" cy="1997393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5550" y="4786313"/>
            <a:ext cx="14725650" cy="2302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475" b="1" i="0">
                <a:solidFill>
                  <a:srgbClr val="15265C"/>
                </a:solidFill>
                <a:latin typeface="Open Sans"/>
              </a:rPr>
              <a:t>Feedback Bidirecional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475" b="0" i="0">
                <a:solidFill>
                  <a:srgbClr val="56483E"/>
                </a:solidFill>
                <a:latin typeface="Open Sans"/>
              </a:rPr>
              <a:t>Perguntar como ele/ela se sente, se identificou pontos fracos na formação ou no ambiente de trabalho.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475" b="0" i="0">
                <a:solidFill>
                  <a:srgbClr val="56483E"/>
                </a:solidFill>
                <a:latin typeface="Open Sans"/>
              </a:rPr>
              <a:t>Abertura para melhorias e/ou ajustes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0750" y="7259955"/>
            <a:ext cx="15335250" cy="1836420"/>
          </a:xfrm>
          <a:prstGeom prst="roundRect">
            <a:avLst>
              <a:gd name="adj" fmla="val 24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0750" y="7412355"/>
            <a:ext cx="85725" cy="153162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5550" y="7259955"/>
            <a:ext cx="14725650" cy="18364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475" b="1" i="0">
                <a:solidFill>
                  <a:srgbClr val="15265C"/>
                </a:solidFill>
                <a:latin typeface="Open Sans"/>
              </a:rPr>
              <a:t>Integração Total</a:t>
            </a:r>
          </a:p>
          <a:p>
            <a:pPr algn="l" marL="323850" indent="-323850">
              <a:lnSpc>
                <a:spcPct val="125000"/>
              </a:lnSpc>
              <a:spcAft>
                <a:spcPts val="450"/>
              </a:spcAft>
              <a:buClr>
                <a:srgbClr val="FF5E1A"/>
              </a:buClr>
              <a:buFont typeface="Arial"/>
              <a:buChar char="•"/>
            </a:pPr>
            <a:r>
              <a:rPr sz="2475" b="0" i="0">
                <a:solidFill>
                  <a:srgbClr val="56483E"/>
                </a:solidFill>
                <a:latin typeface="Open Sans"/>
              </a:rPr>
              <a:t>O colaborador passa a ser considerado membro “pleno” da equipa, mantendo, no entanto, o canal de comunicação aberto para suporte contínuo.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0750" y="1219200"/>
            <a:ext cx="150495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900" b="1" i="0">
                <a:solidFill>
                  <a:srgbClr val="15265C"/>
                </a:solidFill>
                <a:latin typeface="Open Sans"/>
              </a:rPr>
              <a:t>DEBATE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0750" y="1965960"/>
            <a:ext cx="114300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0750" y="2594610"/>
            <a:ext cx="15335250" cy="4953000"/>
          </a:xfrm>
          <a:prstGeom prst="roundRect">
            <a:avLst>
              <a:gd name="adj" fmla="val 692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2750" y="2594610"/>
            <a:ext cx="13811250" cy="495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Open Sans"/>
              </a:rPr>
              <a:t>O que é mais importante para a integração de um novo colaborador: receber uma formação técnica intensiva ou começar por conhecer a cultura e valores da clínica?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0750" y="2381250"/>
            <a:ext cx="95250" cy="5334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57500" y="2381250"/>
            <a:ext cx="13811250" cy="666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200" b="1" i="0">
                <a:solidFill>
                  <a:srgbClr val="15265C"/>
                </a:solidFill>
                <a:latin typeface="Open Sans"/>
              </a:rPr>
              <a:t>Um onboarding bem feito é a melhor forma de converter um novo colaborador num membro dedicado, produtivo e feliz na equipa.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uarela-la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1250" y="2381250"/>
            <a:ext cx="1171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50"/>
              </a:spcAft>
            </a:pPr>
            <a:r>
              <a:rPr sz="2850" b="1" i="0" spc="400">
                <a:solidFill>
                  <a:srgbClr val="FF5E1A"/>
                </a:solidFill>
                <a:latin typeface="Open Sans"/>
              </a:rPr>
              <a:t>VAMOS JOGAR 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1250" y="3048000"/>
            <a:ext cx="11811000" cy="323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750" b="1" i="0">
                <a:solidFill>
                  <a:srgbClr val="C0392B"/>
                </a:solidFill>
                <a:latin typeface="Open Sans"/>
              </a:rPr>
              <a:t>MITO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750" b="0" i="0">
                <a:solidFill>
                  <a:srgbClr val="56483E"/>
                </a:solidFill>
                <a:latin typeface="Open Sans"/>
              </a:rPr>
              <a:t>ou </a:t>
            </a:r>
            <a:r>
              <a:rPr sz="9750" b="1" i="0">
                <a:solidFill>
                  <a:srgbClr val="2E8B57"/>
                </a:solidFill>
                <a:latin typeface="Open Sans"/>
              </a:rPr>
              <a:t>VERDADE?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1250" y="6858000"/>
            <a:ext cx="1238250" cy="5715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91250" y="7239000"/>
            <a:ext cx="1171575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550" b="0" i="0">
                <a:solidFill>
                  <a:srgbClr val="15265C"/>
                </a:solidFill>
                <a:latin typeface="Open Sans"/>
              </a:rPr>
              <a:t>Vou ler uma afirmação. Têm 5 segundos para decidir.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550" b="1" i="0">
                <a:solidFill>
                  <a:srgbClr val="15265C"/>
                </a:solidFill>
                <a:latin typeface="Open Sans"/>
              </a:rPr>
              <a:t>Votam todos ao mesmo tempo: 3, 2, 1, já!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0750" y="1428750"/>
            <a:ext cx="3429000" cy="628650"/>
          </a:xfrm>
          <a:prstGeom prst="roundRect">
            <a:avLst>
              <a:gd name="adj" fmla="val 3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 spc="200">
                <a:solidFill>
                  <a:srgbClr val="FFFFFF"/>
                </a:solidFill>
                <a:latin typeface="Open Sans"/>
              </a:rPr>
              <a:t>AFIRMAÇÃO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0750" y="2476500"/>
            <a:ext cx="15335250" cy="4381500"/>
          </a:xfrm>
          <a:prstGeom prst="roundRect">
            <a:avLst>
              <a:gd name="adj" fmla="val 7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0" y="2762250"/>
            <a:ext cx="95250" cy="3810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0" y="2571750"/>
            <a:ext cx="13144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6000" b="1" i="0">
                <a:solidFill>
                  <a:srgbClr val="15265C"/>
                </a:solidFill>
                <a:latin typeface="Open Sans"/>
              </a:rPr>
              <a:t>Indicar o salário no anúncio afasta bons candidatos.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50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0" y="9353550"/>
            <a:ext cx="116205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2900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900" b="1" i="0" spc="1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250" y="5334000"/>
            <a:ext cx="133350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61975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100" b="0" i="0" spc="300">
                <a:solidFill>
                  <a:srgbClr val="FFFFFF"/>
                </a:solidFill>
                <a:latin typeface="Open Sans"/>
              </a:rPr>
              <a:t>AFIRMAÇÃO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1333500"/>
            <a:ext cx="108585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50" b="1" i="0">
                <a:solidFill>
                  <a:srgbClr val="15265C"/>
                </a:solidFill>
                <a:latin typeface="Open Sans"/>
              </a:rPr>
              <a:t>Sem salário, os bons candidatos nem respondem.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0" y="2752725"/>
            <a:ext cx="104775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67500" y="3152775"/>
            <a:ext cx="10858500" cy="1435418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0" y="3305175"/>
            <a:ext cx="85725" cy="113061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2300" y="3152775"/>
            <a:ext cx="10248900" cy="1435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625" b="0" i="0">
                <a:solidFill>
                  <a:srgbClr val="56483E"/>
                </a:solidFill>
                <a:latin typeface="Open Sans"/>
              </a:rPr>
              <a:t>Quem responde pode estar desalinhado com o que podes pagar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0" y="4740592"/>
            <a:ext cx="10858500" cy="1002030"/>
          </a:xfrm>
          <a:prstGeom prst="roundRect">
            <a:avLst>
              <a:gd name="adj" fmla="val 456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0" y="4892992"/>
            <a:ext cx="85725" cy="69723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4740592"/>
            <a:ext cx="10248900" cy="10020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625" b="0" i="0">
                <a:solidFill>
                  <a:srgbClr val="56483E"/>
                </a:solidFill>
                <a:latin typeface="Open Sans"/>
              </a:rPr>
              <a:t>Perdes tempo na triagem a descobrir só ao telefone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0" y="5895023"/>
            <a:ext cx="10858500" cy="1435418"/>
          </a:xfrm>
          <a:prstGeom prst="roundRect">
            <a:avLst>
              <a:gd name="adj" fmla="val 31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0" y="6047423"/>
            <a:ext cx="85725" cy="113061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2300" y="5895023"/>
            <a:ext cx="10248900" cy="14354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625" b="0" i="0">
                <a:solidFill>
                  <a:srgbClr val="56483E"/>
                </a:solidFill>
                <a:latin typeface="Open Sans"/>
              </a:rPr>
              <a:t>Uma faixa clara (ex.: “a negociar conforme experiência”) já filtra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0" y="7597140"/>
            <a:ext cx="10858500" cy="1499235"/>
          </a:xfrm>
          <a:prstGeom prst="roundRect">
            <a:avLst>
              <a:gd name="adj" fmla="val 3811"/>
            </a:avLst>
          </a:prstGeom>
          <a:solidFill>
            <a:srgbClr val="F6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7597140"/>
            <a:ext cx="10287000" cy="14992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 i="1">
                <a:solidFill>
                  <a:srgbClr val="56483E"/>
                </a:solidFill>
                <a:latin typeface="Open Sans"/>
              </a:rPr>
              <a:t>Nota: </a:t>
            </a:r>
            <a:r>
              <a:rPr sz="2100" b="0" i="1">
                <a:solidFill>
                  <a:srgbClr val="56483E"/>
                </a:solidFill>
                <a:latin typeface="Open Sans"/>
              </a:rPr>
              <a:t>a transparência salarial é uma tendência europeia. Confirma o estado da transposição em Portugal antes de a mencionares como obrigação.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0750" y="1428750"/>
            <a:ext cx="3429000" cy="628650"/>
          </a:xfrm>
          <a:prstGeom prst="roundRect">
            <a:avLst>
              <a:gd name="adj" fmla="val 3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 spc="200">
                <a:solidFill>
                  <a:srgbClr val="FFFFFF"/>
                </a:solidFill>
                <a:latin typeface="Open Sans"/>
              </a:rPr>
              <a:t>AFIRMAÇÃO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0750" y="2476500"/>
            <a:ext cx="15335250" cy="4381500"/>
          </a:xfrm>
          <a:prstGeom prst="roundRect">
            <a:avLst>
              <a:gd name="adj" fmla="val 7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0" y="2762250"/>
            <a:ext cx="95250" cy="3810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0" y="2571750"/>
            <a:ext cx="13144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5850" b="1" i="0">
                <a:solidFill>
                  <a:srgbClr val="15265C"/>
                </a:solidFill>
                <a:latin typeface="Open Sans"/>
              </a:rPr>
              <a:t>Perguntar por uma situação concreta diz-nos mais do que perguntar ‘é empático?’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50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0" y="9353550"/>
            <a:ext cx="116205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2900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700" b="1" i="0" spc="1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250" y="5334000"/>
            <a:ext cx="133350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61975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100" b="0" i="0" spc="300">
                <a:solidFill>
                  <a:srgbClr val="FFFFFF"/>
                </a:solidFill>
                <a:latin typeface="Open Sans"/>
              </a:rPr>
              <a:t>AFIRMAÇÃO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1333500"/>
            <a:ext cx="10858500" cy="1928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50" b="1" i="0">
                <a:solidFill>
                  <a:srgbClr val="15265C"/>
                </a:solidFill>
                <a:latin typeface="Open Sans"/>
              </a:rPr>
              <a:t>Toda a gente diz que é empática. Poucos sabem provar.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0" y="3395662"/>
            <a:ext cx="1047750" cy="571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67500" y="3795712"/>
            <a:ext cx="10858500" cy="1019493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0" y="3948112"/>
            <a:ext cx="85725" cy="714693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2300" y="3795712"/>
            <a:ext cx="10248900" cy="1019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700" b="0" i="0">
                <a:solidFill>
                  <a:srgbClr val="56483E"/>
                </a:solidFill>
                <a:latin typeface="Open Sans"/>
              </a:rPr>
              <a:t>“É empático?” tem sempre a mesma resposta: “sim”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0" y="4967605"/>
            <a:ext cx="10858500" cy="1465262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0" y="5120005"/>
            <a:ext cx="85725" cy="116046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4967605"/>
            <a:ext cx="10248900" cy="1465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700" b="0" i="0">
                <a:solidFill>
                  <a:srgbClr val="56483E"/>
                </a:solidFill>
                <a:latin typeface="Open Sans"/>
              </a:rPr>
              <a:t>“Fala-me de uma situação em que ajudaste um paciente nervoso” obriga a dar factos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0" y="6585268"/>
            <a:ext cx="10858500" cy="1465262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0" y="6737668"/>
            <a:ext cx="85725" cy="116046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2300" y="6585268"/>
            <a:ext cx="10248900" cy="14652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700" b="0" i="0">
                <a:solidFill>
                  <a:srgbClr val="56483E"/>
                </a:solidFill>
                <a:latin typeface="Open Sans"/>
              </a:rPr>
              <a:t>Comportamento passado é a melhor pista do comportamento futuro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0" y="8317230"/>
            <a:ext cx="10858500" cy="779145"/>
          </a:xfrm>
          <a:prstGeom prst="roundRect">
            <a:avLst>
              <a:gd name="adj" fmla="val 7334"/>
            </a:avLst>
          </a:prstGeom>
          <a:solidFill>
            <a:srgbClr val="F6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8317230"/>
            <a:ext cx="10287000" cy="779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 i="1">
                <a:solidFill>
                  <a:srgbClr val="56483E"/>
                </a:solidFill>
                <a:latin typeface="Open Sans"/>
              </a:rPr>
              <a:t>Nota: </a:t>
            </a:r>
            <a:r>
              <a:rPr sz="2100" b="0" i="1">
                <a:solidFill>
                  <a:srgbClr val="56483E"/>
                </a:solidFill>
                <a:latin typeface="Open Sans"/>
              </a:rPr>
              <a:t>liga ao slide de perguntas essenciais.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0750" y="1428750"/>
            <a:ext cx="3429000" cy="628650"/>
          </a:xfrm>
          <a:prstGeom prst="roundRect">
            <a:avLst>
              <a:gd name="adj" fmla="val 3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 spc="200">
                <a:solidFill>
                  <a:srgbClr val="FFFFFF"/>
                </a:solidFill>
                <a:latin typeface="Open Sans"/>
              </a:rPr>
              <a:t>AFIRMAÇÃO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0750" y="2476500"/>
            <a:ext cx="15335250" cy="4381500"/>
          </a:xfrm>
          <a:prstGeom prst="roundRect">
            <a:avLst>
              <a:gd name="adj" fmla="val 7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0" y="2762250"/>
            <a:ext cx="95250" cy="3810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0" y="2571750"/>
            <a:ext cx="13144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6000" b="1" i="0">
                <a:solidFill>
                  <a:srgbClr val="15265C"/>
                </a:solidFill>
                <a:latin typeface="Open Sans"/>
              </a:rPr>
              <a:t>Quem tem mais anos de experiência é sempre a melhor escolha.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50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0" y="9353550"/>
            <a:ext cx="116205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2900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900" b="1" i="0" spc="1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250" y="5334000"/>
            <a:ext cx="133350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61975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100" b="0" i="0" spc="300">
                <a:solidFill>
                  <a:srgbClr val="FFFFFF"/>
                </a:solidFill>
                <a:latin typeface="Open Sans"/>
              </a:rPr>
              <a:t>AFIRMAÇÃO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1333500"/>
            <a:ext cx="10858500" cy="1928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50" b="1" i="0">
                <a:solidFill>
                  <a:srgbClr val="15265C"/>
                </a:solidFill>
                <a:latin typeface="Open Sans"/>
              </a:rPr>
              <a:t>Anos de experiência não são o mesmo que experiência bem feita.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0" y="3395662"/>
            <a:ext cx="104775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67500" y="3795712"/>
            <a:ext cx="10858500" cy="940752"/>
          </a:xfrm>
          <a:prstGeom prst="roundRect">
            <a:avLst>
              <a:gd name="adj" fmla="val 48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0" y="3948112"/>
            <a:ext cx="85725" cy="6359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2300" y="3795712"/>
            <a:ext cx="10248900" cy="940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325" b="0" i="0">
                <a:solidFill>
                  <a:srgbClr val="56483E"/>
                </a:solidFill>
                <a:latin typeface="Open Sans"/>
              </a:rPr>
              <a:t>Vícios e resistência a protocolos custam caro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0" y="4888865"/>
            <a:ext cx="10858500" cy="132461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0" y="5041265"/>
            <a:ext cx="85725" cy="101981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4888865"/>
            <a:ext cx="10248900" cy="1324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325" b="0" i="0">
                <a:solidFill>
                  <a:srgbClr val="56483E"/>
                </a:solidFill>
                <a:latin typeface="Open Sans"/>
              </a:rPr>
              <a:t>Um perfil mais júnior, com boa atitude e formação, pode integrar-se melhor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0" y="6365875"/>
            <a:ext cx="10858500" cy="132461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0" y="6518275"/>
            <a:ext cx="85725" cy="101981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2300" y="6365875"/>
            <a:ext cx="10248900" cy="1324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325" b="0" i="0">
                <a:solidFill>
                  <a:srgbClr val="56483E"/>
                </a:solidFill>
                <a:latin typeface="Open Sans"/>
              </a:rPr>
              <a:t>O que interessa: o que faz, como faz e se quer fazer à tua maneira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0" y="7957185"/>
            <a:ext cx="10858500" cy="1139190"/>
          </a:xfrm>
          <a:prstGeom prst="roundRect">
            <a:avLst>
              <a:gd name="adj" fmla="val 5016"/>
            </a:avLst>
          </a:prstGeom>
          <a:solidFill>
            <a:srgbClr val="F6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7957185"/>
            <a:ext cx="10287000" cy="1139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 i="1">
                <a:solidFill>
                  <a:srgbClr val="56483E"/>
                </a:solidFill>
                <a:latin typeface="Open Sans"/>
              </a:rPr>
              <a:t>Nota: </a:t>
            </a:r>
            <a:r>
              <a:rPr sz="2100" b="0" i="1">
                <a:solidFill>
                  <a:srgbClr val="56483E"/>
                </a:solidFill>
                <a:latin typeface="Open Sans"/>
              </a:rPr>
              <a:t>conta um caso real, sem nomes de pessoas nem de clínicas.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0750" y="1428750"/>
            <a:ext cx="3429000" cy="628650"/>
          </a:xfrm>
          <a:prstGeom prst="roundRect">
            <a:avLst>
              <a:gd name="adj" fmla="val 3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 spc="200">
                <a:solidFill>
                  <a:srgbClr val="FFFFFF"/>
                </a:solidFill>
                <a:latin typeface="Open Sans"/>
              </a:rPr>
              <a:t>AFIRMAÇÃO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0750" y="2476500"/>
            <a:ext cx="15335250" cy="4381500"/>
          </a:xfrm>
          <a:prstGeom prst="roundRect">
            <a:avLst>
              <a:gd name="adj" fmla="val 7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0" y="2762250"/>
            <a:ext cx="95250" cy="3810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0" y="2571750"/>
            <a:ext cx="13144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6000" b="1" i="0">
                <a:solidFill>
                  <a:srgbClr val="15265C"/>
                </a:solidFill>
                <a:latin typeface="Open Sans"/>
              </a:rPr>
              <a:t>Dar feedback nas primeiras semanas ajuda a reter o novo colaborador.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50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0" y="9353550"/>
            <a:ext cx="116205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2900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700" b="1" i="0" spc="1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250" y="5334000"/>
            <a:ext cx="133350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61975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100" b="0" i="0" spc="300">
                <a:solidFill>
                  <a:srgbClr val="FFFFFF"/>
                </a:solidFill>
                <a:latin typeface="Open Sans"/>
              </a:rPr>
              <a:t>AFIRMAÇÃO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1333500"/>
            <a:ext cx="10858500" cy="1928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50" b="1" i="0">
                <a:solidFill>
                  <a:srgbClr val="15265C"/>
                </a:solidFill>
                <a:latin typeface="Open Sans"/>
              </a:rPr>
              <a:t>Quem não sabe como está a ir, começa a imaginar o pior.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0" y="3395662"/>
            <a:ext cx="1047750" cy="571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67500" y="3795712"/>
            <a:ext cx="10858500" cy="1043940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0" y="3948112"/>
            <a:ext cx="85725" cy="7391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2300" y="3795712"/>
            <a:ext cx="10248900" cy="1043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775" b="0" i="0">
                <a:solidFill>
                  <a:srgbClr val="56483E"/>
                </a:solidFill>
                <a:latin typeface="Open Sans"/>
              </a:rPr>
              <a:t>Reforçar o que corre bem dá segurança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0" y="4992052"/>
            <a:ext cx="10858500" cy="1043940"/>
          </a:xfrm>
          <a:prstGeom prst="roundRect">
            <a:avLst>
              <a:gd name="adj" fmla="val 43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0" y="5144452"/>
            <a:ext cx="85725" cy="7391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4992052"/>
            <a:ext cx="10248900" cy="1043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775" b="0" i="0">
                <a:solidFill>
                  <a:srgbClr val="56483E"/>
                </a:solidFill>
                <a:latin typeface="Open Sans"/>
              </a:rPr>
              <a:t>Corrigir cedo evita que o erro se torne hábito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0" y="6188392"/>
            <a:ext cx="10858500" cy="1502092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0" y="6340792"/>
            <a:ext cx="85725" cy="11972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2300" y="6188392"/>
            <a:ext cx="10248900" cy="15020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775" b="0" i="0">
                <a:solidFill>
                  <a:srgbClr val="56483E"/>
                </a:solidFill>
                <a:latin typeface="Open Sans"/>
              </a:rPr>
              <a:t>10 a 15 minutos por semana no 1.º mês fazem diferença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0" y="7957185"/>
            <a:ext cx="10858500" cy="1139190"/>
          </a:xfrm>
          <a:prstGeom prst="roundRect">
            <a:avLst>
              <a:gd name="adj" fmla="val 5016"/>
            </a:avLst>
          </a:prstGeom>
          <a:solidFill>
            <a:srgbClr val="F6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7957185"/>
            <a:ext cx="10287000" cy="1139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 i="1">
                <a:solidFill>
                  <a:srgbClr val="56483E"/>
                </a:solidFill>
                <a:latin typeface="Open Sans"/>
              </a:rPr>
              <a:t>Nota: </a:t>
            </a:r>
            <a:r>
              <a:rPr sz="2100" b="0" i="1">
                <a:solidFill>
                  <a:srgbClr val="56483E"/>
                </a:solidFill>
                <a:latin typeface="Open Sans"/>
              </a:rPr>
              <a:t>é boa prática amplamente aceite. Só cites percentagens se tiveres fonte.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0750" y="1428750"/>
            <a:ext cx="3429000" cy="628650"/>
          </a:xfrm>
          <a:prstGeom prst="roundRect">
            <a:avLst>
              <a:gd name="adj" fmla="val 3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 spc="200">
                <a:solidFill>
                  <a:srgbClr val="FFFFFF"/>
                </a:solidFill>
                <a:latin typeface="Open Sans"/>
              </a:rPr>
              <a:t>AFIRMAÇÃO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0750" y="2476500"/>
            <a:ext cx="15335250" cy="4381500"/>
          </a:xfrm>
          <a:prstGeom prst="roundRect">
            <a:avLst>
              <a:gd name="adj" fmla="val 7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0" y="2762250"/>
            <a:ext cx="95250" cy="3810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0" y="2571750"/>
            <a:ext cx="13144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6000" b="1" i="0">
                <a:solidFill>
                  <a:srgbClr val="15265C"/>
                </a:solidFill>
                <a:latin typeface="Open Sans"/>
              </a:rPr>
              <a:t>O onboarding começa no primeiro dia de trabalho.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50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0" y="9353550"/>
            <a:ext cx="116205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2900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900" b="1" i="0" spc="1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250" y="5334000"/>
            <a:ext cx="133350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61975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100" b="0" i="0" spc="300">
                <a:solidFill>
                  <a:srgbClr val="FFFFFF"/>
                </a:solidFill>
                <a:latin typeface="Open Sans"/>
              </a:rPr>
              <a:t>AFIRMAÇÃO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1333500"/>
            <a:ext cx="108585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50" b="1" i="0">
                <a:solidFill>
                  <a:srgbClr val="15265C"/>
                </a:solidFill>
                <a:latin typeface="Open Sans"/>
              </a:rPr>
              <a:t>Começa no momento em que o candidato diz “sim”.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0" y="2752725"/>
            <a:ext cx="104775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67500" y="3152775"/>
            <a:ext cx="10858500" cy="109728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0" y="3305175"/>
            <a:ext cx="85725" cy="792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2300" y="3152775"/>
            <a:ext cx="1024890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850" b="0" i="0">
                <a:solidFill>
                  <a:srgbClr val="56483E"/>
                </a:solidFill>
                <a:latin typeface="Open Sans"/>
              </a:rPr>
              <a:t>Entre a aceitação e o dia 1 há dias de dúvida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0" y="4402455"/>
            <a:ext cx="10858500" cy="1567815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0" y="4554855"/>
            <a:ext cx="85725" cy="126301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4402455"/>
            <a:ext cx="10248900" cy="15678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850" b="0" i="0">
                <a:solidFill>
                  <a:srgbClr val="56483E"/>
                </a:solidFill>
                <a:latin typeface="Open Sans"/>
              </a:rPr>
              <a:t>Uma mensagem de boas-vindas, o horário, o que levar e quem o recebe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0" y="6122670"/>
            <a:ext cx="10858500" cy="1567815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0" y="6275070"/>
            <a:ext cx="85725" cy="126301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2300" y="6122670"/>
            <a:ext cx="10248900" cy="15678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2850" b="0" i="0">
                <a:solidFill>
                  <a:srgbClr val="56483E"/>
                </a:solidFill>
                <a:latin typeface="Open Sans"/>
              </a:rPr>
              <a:t>Quem chega ao dia 1 já a sentir-se esperado, integra-se mais depressa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0" y="7957185"/>
            <a:ext cx="10858500" cy="1139190"/>
          </a:xfrm>
          <a:prstGeom prst="roundRect">
            <a:avLst>
              <a:gd name="adj" fmla="val 5016"/>
            </a:avLst>
          </a:prstGeom>
          <a:solidFill>
            <a:srgbClr val="F6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7957185"/>
            <a:ext cx="10287000" cy="1139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 i="1">
                <a:solidFill>
                  <a:srgbClr val="56483E"/>
                </a:solidFill>
                <a:latin typeface="Open Sans"/>
              </a:rPr>
              <a:t>Nota: </a:t>
            </a:r>
            <a:r>
              <a:rPr sz="2100" b="0" i="1">
                <a:solidFill>
                  <a:srgbClr val="56483E"/>
                </a:solidFill>
                <a:latin typeface="Open Sans"/>
              </a:rPr>
              <a:t>introduz o conceito de pré-onboarding, que não está nos slides atuais.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uarela-estr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05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19250" y="9353550"/>
            <a:ext cx="1666875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0750" y="1428750"/>
            <a:ext cx="3429000" cy="628650"/>
          </a:xfrm>
          <a:prstGeom prst="roundRect">
            <a:avLst>
              <a:gd name="adj" fmla="val 30000"/>
            </a:avLst>
          </a:prstGeom>
          <a:solidFill>
            <a:srgbClr val="152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2250" b="1" spc="200">
                <a:solidFill>
                  <a:srgbClr val="FFFFFF"/>
                </a:solidFill>
                <a:latin typeface="Open Sans"/>
              </a:rPr>
              <a:t>AFIRMAÇÃO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0750" y="2476500"/>
            <a:ext cx="15335250" cy="4381500"/>
          </a:xfrm>
          <a:prstGeom prst="roundRect">
            <a:avLst>
              <a:gd name="adj" fmla="val 7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0750" y="2762250"/>
            <a:ext cx="95250" cy="3810000"/>
          </a:xfrm>
          <a:prstGeom prst="rect">
            <a:avLst/>
          </a:prstGeom>
          <a:solidFill>
            <a:srgbClr val="FF5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0" y="2571750"/>
            <a:ext cx="13144500" cy="400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6000" b="1" i="0">
                <a:solidFill>
                  <a:srgbClr val="15265C"/>
                </a:solidFill>
                <a:latin typeface="Open Sans"/>
              </a:rPr>
              <a:t>O período experimental serve também para o colaborador avaliar a clínica.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075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96500" y="7334250"/>
            <a:ext cx="7429500" cy="15240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6200" bIns="76200"/>
          <a:lstStyle/>
          <a:p>
            <a:pPr algn="ctr"/>
            <a:r>
              <a:rPr sz="4050" b="1" spc="200">
                <a:solidFill>
                  <a:srgbClr val="FFFFFF"/>
                </a:solidFill>
                <a:latin typeface="Open Sans"/>
              </a:rPr>
              <a:t>MITO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0" y="0"/>
            <a:ext cx="6096000" cy="10287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8953500" y="47625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450"/>
              </a:spcAft>
            </a:pPr>
            <a:r>
              <a:rPr sz="1125" b="0" i="0" spc="200">
                <a:solidFill>
                  <a:srgbClr val="56483E"/>
                </a:solidFill>
                <a:latin typeface="Open Sans"/>
              </a:rPr>
              <a:t>GESTÃO E DIREÇÃO DE CLÍNICAS DENTÁRIAS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0" y="952500"/>
            <a:ext cx="91440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0" y="9353550"/>
            <a:ext cx="11620500" cy="19050"/>
          </a:xfrm>
          <a:prstGeom prst="rect">
            <a:avLst/>
          </a:prstGeom>
          <a:solidFill>
            <a:srgbClr val="564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0" y="9486900"/>
            <a:ext cx="819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Gestãodontia · TBO Academy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125" b="0" i="0">
                <a:solidFill>
                  <a:srgbClr val="56483E"/>
                </a:solidFill>
                <a:latin typeface="Open Sans"/>
              </a:rPr>
              <a:t>ANJE Porto / Out a Dez '26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429000"/>
            <a:ext cx="51435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700" b="1" i="0" spc="100">
                <a:solidFill>
                  <a:srgbClr val="FFFFFF"/>
                </a:solidFill>
                <a:latin typeface="Open Sans"/>
              </a:rPr>
              <a:t>VERDADE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250" y="5334000"/>
            <a:ext cx="1333500" cy="57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" y="5619750"/>
            <a:ext cx="5143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2100" b="0" i="0" spc="300">
                <a:solidFill>
                  <a:srgbClr val="FFFFFF"/>
                </a:solidFill>
                <a:latin typeface="Open Sans"/>
              </a:rPr>
              <a:t>AFIRMAÇÃO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1333500"/>
            <a:ext cx="10858500" cy="1285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50" b="1" i="0">
                <a:solidFill>
                  <a:srgbClr val="15265C"/>
                </a:solidFill>
                <a:latin typeface="Open Sans"/>
              </a:rPr>
              <a:t>A avaliação é nos dois sentidos.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0" y="2752725"/>
            <a:ext cx="1047750" cy="5715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67500" y="3152775"/>
            <a:ext cx="10858500" cy="1184275"/>
          </a:xfrm>
          <a:prstGeom prst="roundRect">
            <a:avLst>
              <a:gd name="adj" fmla="val 38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67500" y="3305175"/>
            <a:ext cx="85725" cy="879475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2300" y="3152775"/>
            <a:ext cx="10248900" cy="1184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3150" b="0" i="0">
                <a:solidFill>
                  <a:srgbClr val="56483E"/>
                </a:solidFill>
                <a:latin typeface="Open Sans"/>
              </a:rPr>
              <a:t>O colaborador também decide se quer ficar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500" y="4489450"/>
            <a:ext cx="10858500" cy="1704340"/>
          </a:xfrm>
          <a:prstGeom prst="roundRect">
            <a:avLst>
              <a:gd name="adj" fmla="val 26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67500" y="4641850"/>
            <a:ext cx="85725" cy="13995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4489450"/>
            <a:ext cx="10248900" cy="170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3150" b="0" i="0">
                <a:solidFill>
                  <a:srgbClr val="56483E"/>
                </a:solidFill>
                <a:latin typeface="Open Sans"/>
              </a:rPr>
              <a:t>Se o onboarding for mau, quem sai és tu a perder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500" y="6346190"/>
            <a:ext cx="10858500" cy="1704340"/>
          </a:xfrm>
          <a:prstGeom prst="roundRect">
            <a:avLst>
              <a:gd name="adj" fmla="val 26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67500" y="6498590"/>
            <a:ext cx="85725" cy="13995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2300" y="6346190"/>
            <a:ext cx="10248900" cy="17043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450"/>
              </a:spcAft>
            </a:pPr>
            <a:r>
              <a:rPr sz="3150" b="0" i="0">
                <a:solidFill>
                  <a:srgbClr val="56483E"/>
                </a:solidFill>
                <a:latin typeface="Open Sans"/>
              </a:rPr>
              <a:t>Por isso pergunta: “O que te surpreendeu? O que teria ajudado?”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0" y="8317230"/>
            <a:ext cx="10858500" cy="779145"/>
          </a:xfrm>
          <a:prstGeom prst="roundRect">
            <a:avLst>
              <a:gd name="adj" fmla="val 7334"/>
            </a:avLst>
          </a:prstGeom>
          <a:solidFill>
            <a:srgbClr val="F6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8317230"/>
            <a:ext cx="10287000" cy="77914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1" i="1">
                <a:solidFill>
                  <a:srgbClr val="56483E"/>
                </a:solidFill>
                <a:latin typeface="Open Sans"/>
              </a:rPr>
              <a:t>Nota: </a:t>
            </a:r>
            <a:r>
              <a:rPr sz="2100" b="0" i="1">
                <a:solidFill>
                  <a:srgbClr val="56483E"/>
                </a:solidFill>
                <a:latin typeface="Open Sans"/>
              </a:rPr>
              <a:t>liga ao slide de feedback bidirecional.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DAHYGUmH3hE</dc:identifier>
  <dcterms:modified xsi:type="dcterms:W3CDTF">2011-08-01T06:04:30Z</dcterms:modified>
  <cp:revision>1</cp:revision>
  <dc:title>recrutamento_joao</dc:title>
</cp:coreProperties>
</file>